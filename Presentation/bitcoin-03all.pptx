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  <p:sldMasterId id="2147483655" r:id="rId2"/>
  </p:sldMasterIdLst>
  <p:notesMasterIdLst>
    <p:notesMasterId r:id="rId40"/>
  </p:notesMasterIdLst>
  <p:handoutMasterIdLst>
    <p:handoutMasterId r:id="rId41"/>
  </p:handoutMasterIdLst>
  <p:sldIdLst>
    <p:sldId id="31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18" r:id="rId18"/>
    <p:sldId id="271" r:id="rId19"/>
    <p:sldId id="272" r:id="rId20"/>
    <p:sldId id="273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90"/>
  </p:normalViewPr>
  <p:slideViewPr>
    <p:cSldViewPr snapToGrid="0" snapToObjects="1">
      <p:cViewPr varScale="1">
        <p:scale>
          <a:sx n="122" d="100"/>
          <a:sy n="122" d="100"/>
        </p:scale>
        <p:origin x="824" y="1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ECBE7-5E28-5A4E-8DE0-B5797F4B036D}" type="datetimeFigureOut">
              <a:rPr lang="en-US" smtClean="0"/>
              <a:t>4/3/18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73256-7132-A640-ADF7-CE149F623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095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9523441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But what rules?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Need to clarify what “append-only” means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This is called a “change address”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6" name="Shape 3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Font typeface="Arial"/>
              <a:buNone/>
            </a:pPr>
            <a:endParaRPr sz="11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1928942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193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Shape 3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4904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1094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Shape 4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1206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Shape 4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2951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034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Font typeface="Arial"/>
              <a:buNone/>
            </a:pPr>
            <a:endParaRPr sz="11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27807687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Shape 4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8741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Shape 4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No geographic topology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Seed nodes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No formal way of leaving</a:t>
            </a:r>
          </a:p>
        </p:txBody>
      </p:sp>
    </p:spTree>
    <p:extLst>
      <p:ext uri="{BB962C8B-B14F-4D97-AF65-F5344CB8AC3E}">
        <p14:creationId xmlns:p14="http://schemas.microsoft.com/office/powerpoint/2010/main" val="634236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Shape 5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Transactions are propagated in the “pending transaction pool”</a:t>
            </a:r>
          </a:p>
        </p:txBody>
      </p:sp>
    </p:spTree>
    <p:extLst>
      <p:ext uri="{BB962C8B-B14F-4D97-AF65-F5344CB8AC3E}">
        <p14:creationId xmlns:p14="http://schemas.microsoft.com/office/powerpoint/2010/main" val="37574144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7705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Shape 5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26133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Shape 6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8954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61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Shape 6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7593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62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Shape 6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3937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Shape 6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2530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Shape 6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9063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56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73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8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25" cy="372568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25" cy="372568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583341"/>
            <a:ext cx="7772400" cy="11598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2pPr>
            <a:lvl3pPr marL="0" marR="0" lvl="2" indent="0" algn="ctr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3pPr>
            <a:lvl4pPr marL="0" marR="0" lvl="3" indent="0" algn="ctr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4pPr>
            <a:lvl5pPr marL="0" marR="0" lvl="4" indent="0" algn="ctr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5pPr>
            <a:lvl6pPr marL="0" marR="0" lvl="5" indent="0" algn="ctr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6pPr>
            <a:lvl7pPr marL="0" marR="0" lvl="6" indent="0" algn="ctr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7pPr>
            <a:lvl8pPr marL="0" marR="0" lvl="7" indent="0" algn="ctr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8pPr>
            <a:lvl9pPr marL="0" marR="0" lvl="8" indent="0" algn="ctr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685800" y="2840052"/>
            <a:ext cx="7772400" cy="784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3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93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508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lvl="1" indent="444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lvl="2" indent="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lvl="3" indent="127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lvl="4" indent="127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lvl="5" indent="127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lvl="6" indent="127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lvl="7" indent="127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lvl="8" indent="127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4767262"/>
            <a:ext cx="2133598" cy="27384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4767262"/>
            <a:ext cx="2895600" cy="27384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4767262"/>
            <a:ext cx="2133598" cy="27384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99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24" cy="37256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24" cy="37256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99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548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457200" y="4406308"/>
            <a:ext cx="8229600" cy="5195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360"/>
              </a:spcBef>
              <a:buFont typeface="Trebuchet MS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039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53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buFont typeface="Trebuchet MS"/>
              <a:defRPr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buFont typeface="Trebuchet MS"/>
              <a:defRPr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buFont typeface="Trebuchet MS"/>
              <a:defRPr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buFont typeface="Trebuchet MS"/>
              <a:defRPr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buFont typeface="Trebuchet MS"/>
              <a:defRPr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buFont typeface="Trebuchet MS"/>
              <a:defRPr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buFont typeface="Trebuchet MS"/>
              <a:defRPr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buFont typeface="Trebuchet MS"/>
              <a:defRPr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buFont typeface="Trebuchet MS"/>
              <a:defRPr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9124900" y="-2575"/>
            <a:ext cx="95400" cy="51434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" name="Shape 9"/>
          <p:cNvSpPr/>
          <p:nvPr/>
        </p:nvSpPr>
        <p:spPr>
          <a:xfrm>
            <a:off x="9029500" y="0"/>
            <a:ext cx="954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2pPr>
            <a:lvl3pPr marL="0" marR="0" lvl="2" indent="0" algn="l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3pPr>
            <a:lvl4pPr marL="0" marR="0" lvl="3" indent="0" algn="l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4pPr>
            <a:lvl5pPr marL="0" marR="0" lvl="4" indent="0" algn="l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5pPr>
            <a:lvl6pPr marL="0" marR="0" lvl="5" indent="0" algn="l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6pPr>
            <a:lvl7pPr marL="0" marR="0" lvl="6" indent="0" algn="l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7pPr>
            <a:lvl8pPr marL="0" marR="0" lvl="7" indent="0" algn="l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8pPr>
            <a:lvl9pPr marL="0" marR="0" lvl="8" indent="0" algn="l" rtl="0">
              <a:spcBef>
                <a:spcPts val="0"/>
              </a:spcBef>
              <a:buClr>
                <a:schemeClr val="dk1"/>
              </a:buClr>
              <a:buFont typeface="Trebuchet MS"/>
              <a:buNone/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Trebuchet MS"/>
              <a:buNone/>
              <a:defRPr/>
            </a:lvl9pPr>
          </a:lstStyle>
          <a:p>
            <a:endParaRPr dirty="0"/>
          </a:p>
        </p:txBody>
      </p:sp>
      <p:sp>
        <p:nvSpPr>
          <p:cNvPr id="8" name="Shape 8"/>
          <p:cNvSpPr/>
          <p:nvPr/>
        </p:nvSpPr>
        <p:spPr>
          <a:xfrm>
            <a:off x="9124900" y="-2575"/>
            <a:ext cx="95400" cy="51434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9" name="Shape 9"/>
          <p:cNvSpPr/>
          <p:nvPr/>
        </p:nvSpPr>
        <p:spPr>
          <a:xfrm>
            <a:off x="9029500" y="0"/>
            <a:ext cx="954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084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/>
            <a:r>
              <a:rPr lang="en-US" sz="48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Mechanics of </a:t>
            </a:r>
            <a:r>
              <a:rPr lang="en-US" sz="4800" dirty="0" err="1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Bitcoin</a:t>
            </a:r>
            <a:br>
              <a:rPr lang="en-US" sz="48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32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Part I</a:t>
            </a:r>
            <a:endParaRPr lang="en-US" sz="4800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" name="Shape 36"/>
          <p:cNvSpPr txBox="1">
            <a:spLocks noGrp="1"/>
          </p:cNvSpPr>
          <p:nvPr>
            <p:ph type="subTitle" idx="1"/>
          </p:nvPr>
        </p:nvSpPr>
        <p:spPr>
          <a:xfrm>
            <a:off x="685800" y="2840052"/>
            <a:ext cx="7772400" cy="210024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endParaRPr lang="en-US" sz="3200" dirty="0"/>
          </a:p>
          <a:p>
            <a:pPr lvl="0"/>
            <a:r>
              <a:rPr lang="en-US" sz="2400" dirty="0"/>
              <a:t>Tyler Moore, CS 7403, University of Tulsa</a:t>
            </a:r>
          </a:p>
          <a:p>
            <a:r>
              <a:rPr lang="en-US" dirty="0"/>
              <a:t>Slides adapted from</a:t>
            </a:r>
            <a:br>
              <a:rPr lang="en-US" dirty="0"/>
            </a:br>
            <a:r>
              <a:rPr lang="en-US" dirty="0" err="1"/>
              <a:t>Arvind</a:t>
            </a:r>
            <a:r>
              <a:rPr lang="en-US" dirty="0"/>
              <a:t> Narayanan, Joseph </a:t>
            </a:r>
            <a:r>
              <a:rPr lang="en-US" dirty="0" err="1"/>
              <a:t>Bonneau</a:t>
            </a:r>
            <a:r>
              <a:rPr lang="en-US" dirty="0"/>
              <a:t>, Edward </a:t>
            </a:r>
            <a:r>
              <a:rPr lang="en-US" dirty="0" err="1"/>
              <a:t>Felten</a:t>
            </a:r>
            <a:r>
              <a:rPr lang="en-US" dirty="0"/>
              <a:t>, Andrew Miller, Princeton University</a:t>
            </a:r>
            <a:endParaRPr lang="en-US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endParaRPr lang="en-US" sz="30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endParaRPr lang="en-US"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endParaRPr lang="en"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32821929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Recap: </a:t>
            </a:r>
            <a:r>
              <a:rPr lang="en" b="0"/>
              <a:t>Bitcoin consensus</a:t>
            </a:r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606999" cy="22409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Bitcoin consensus gives us: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Append-only ledger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Decentralized consensus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Miners to validate transactions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457200" y="3054600"/>
            <a:ext cx="8449499" cy="2088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600"/>
              </a:spcBef>
              <a:buNone/>
            </a:pPr>
            <a:r>
              <a:rPr lang="en" sz="30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assuming a currency exists to motivate miners!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685800" y="1690471"/>
            <a:ext cx="7772400" cy="1723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endParaRPr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r>
              <a:rPr lang="en-US" dirty="0"/>
              <a:t>3.1: </a:t>
            </a:r>
            <a:r>
              <a:rPr lang="en" dirty="0"/>
              <a:t>Bitcoin transactions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40375"/>
            <a:ext cx="8394299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An account-based ledger (</a:t>
            </a:r>
            <a:r>
              <a:rPr lang="en" i="1"/>
              <a:t>not</a:t>
            </a:r>
            <a:r>
              <a:rPr lang="en"/>
              <a:t> Bitcoin)</a:t>
            </a:r>
          </a:p>
        </p:txBody>
      </p:sp>
      <p:sp>
        <p:nvSpPr>
          <p:cNvPr id="48" name="Shape 48"/>
          <p:cNvSpPr/>
          <p:nvPr/>
        </p:nvSpPr>
        <p:spPr>
          <a:xfrm>
            <a:off x="870277" y="1244975"/>
            <a:ext cx="5616600" cy="4346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Create 25 coins and credit to Alice</a:t>
            </a:r>
            <a:r>
              <a:rPr lang="en" sz="1800" baseline="-25000">
                <a:latin typeface="Trebuchet MS"/>
                <a:ea typeface="Trebuchet MS"/>
                <a:cs typeface="Trebuchet MS"/>
                <a:sym typeface="Trebuchet MS"/>
              </a:rPr>
              <a:t>ASSERTED BY MINERS</a:t>
            </a:r>
          </a:p>
        </p:txBody>
      </p:sp>
      <p:sp>
        <p:nvSpPr>
          <p:cNvPr id="49" name="Shape 49"/>
          <p:cNvSpPr/>
          <p:nvPr/>
        </p:nvSpPr>
        <p:spPr>
          <a:xfrm>
            <a:off x="870277" y="1679675"/>
            <a:ext cx="5616600" cy="4346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17 coins from Alice to Bob</a:t>
            </a:r>
            <a:r>
              <a:rPr lang="en" sz="18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</a:p>
        </p:txBody>
      </p:sp>
      <p:sp>
        <p:nvSpPr>
          <p:cNvPr id="50" name="Shape 50"/>
          <p:cNvSpPr/>
          <p:nvPr/>
        </p:nvSpPr>
        <p:spPr>
          <a:xfrm>
            <a:off x="870277" y="2114375"/>
            <a:ext cx="5616600" cy="4346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8 coins from Bob to Carol</a:t>
            </a:r>
            <a:r>
              <a:rPr lang="en" sz="18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SIGNED(Bob)</a:t>
            </a:r>
          </a:p>
        </p:txBody>
      </p:sp>
      <p:sp>
        <p:nvSpPr>
          <p:cNvPr id="51" name="Shape 51"/>
          <p:cNvSpPr/>
          <p:nvPr/>
        </p:nvSpPr>
        <p:spPr>
          <a:xfrm>
            <a:off x="870277" y="2549075"/>
            <a:ext cx="5616600" cy="4346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5 coins from Carol to Alice</a:t>
            </a:r>
            <a:r>
              <a:rPr lang="en" sz="18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</a:t>
            </a:r>
          </a:p>
        </p:txBody>
      </p:sp>
      <p:sp>
        <p:nvSpPr>
          <p:cNvPr id="52" name="Shape 52"/>
          <p:cNvSpPr/>
          <p:nvPr/>
        </p:nvSpPr>
        <p:spPr>
          <a:xfrm>
            <a:off x="2358000" y="4490300"/>
            <a:ext cx="4427999" cy="5268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</a:p>
        </p:txBody>
      </p:sp>
      <p:cxnSp>
        <p:nvCxnSpPr>
          <p:cNvPr id="53" name="Shape 53"/>
          <p:cNvCxnSpPr/>
          <p:nvPr/>
        </p:nvCxnSpPr>
        <p:spPr>
          <a:xfrm>
            <a:off x="404850" y="1350325"/>
            <a:ext cx="0" cy="26408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4" name="Shape 54"/>
          <p:cNvSpPr txBox="1"/>
          <p:nvPr/>
        </p:nvSpPr>
        <p:spPr>
          <a:xfrm>
            <a:off x="124150" y="1002925"/>
            <a:ext cx="598199" cy="34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time</a:t>
            </a:r>
          </a:p>
        </p:txBody>
      </p:sp>
      <p:sp>
        <p:nvSpPr>
          <p:cNvPr id="55" name="Shape 55"/>
          <p:cNvSpPr/>
          <p:nvPr/>
        </p:nvSpPr>
        <p:spPr>
          <a:xfrm>
            <a:off x="870277" y="2983775"/>
            <a:ext cx="5616600" cy="434699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15 coins from Alice to David</a:t>
            </a:r>
            <a:r>
              <a:rPr lang="en" sz="18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</a:p>
        </p:txBody>
      </p:sp>
      <p:cxnSp>
        <p:nvCxnSpPr>
          <p:cNvPr id="56" name="Shape 56"/>
          <p:cNvCxnSpPr/>
          <p:nvPr/>
        </p:nvCxnSpPr>
        <p:spPr>
          <a:xfrm rot="10800000">
            <a:off x="7020650" y="846424"/>
            <a:ext cx="18299" cy="183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id="57" name="Shape 57"/>
          <p:cNvSpPr txBox="1"/>
          <p:nvPr/>
        </p:nvSpPr>
        <p:spPr>
          <a:xfrm>
            <a:off x="7178750" y="1100075"/>
            <a:ext cx="1553100" cy="1014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might need to scan backwards until genesis!</a:t>
            </a:r>
          </a:p>
        </p:txBody>
      </p:sp>
      <p:sp>
        <p:nvSpPr>
          <p:cNvPr id="58" name="Shape 58"/>
          <p:cNvSpPr/>
          <p:nvPr/>
        </p:nvSpPr>
        <p:spPr>
          <a:xfrm>
            <a:off x="6551275" y="2741975"/>
            <a:ext cx="2055599" cy="754799"/>
          </a:xfrm>
          <a:prstGeom prst="cloudCallout">
            <a:avLst>
              <a:gd name="adj1" fmla="val -68996"/>
              <a:gd name="adj2" fmla="val 20028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is this valid?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57200" y="403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 transaction-based ledger (Bitcoin)</a:t>
            </a:r>
          </a:p>
        </p:txBody>
      </p:sp>
      <p:sp>
        <p:nvSpPr>
          <p:cNvPr id="64" name="Shape 64"/>
          <p:cNvSpPr/>
          <p:nvPr/>
        </p:nvSpPr>
        <p:spPr>
          <a:xfrm>
            <a:off x="870275" y="822275"/>
            <a:ext cx="5616600" cy="8574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	Inputs: Ø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       Outputs: 25.0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Alice</a:t>
            </a:r>
          </a:p>
        </p:txBody>
      </p:sp>
      <p:sp>
        <p:nvSpPr>
          <p:cNvPr id="65" name="Shape 65"/>
          <p:cNvSpPr/>
          <p:nvPr/>
        </p:nvSpPr>
        <p:spPr>
          <a:xfrm>
            <a:off x="870275" y="1679675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1[0]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17.0→Bob, 8.0→Alice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</a:p>
        </p:txBody>
      </p:sp>
      <p:sp>
        <p:nvSpPr>
          <p:cNvPr id="66" name="Shape 66"/>
          <p:cNvSpPr/>
          <p:nvPr/>
        </p:nvSpPr>
        <p:spPr>
          <a:xfrm>
            <a:off x="2358000" y="4563925"/>
            <a:ext cx="4427999" cy="5268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</a:p>
        </p:txBody>
      </p:sp>
      <p:cxnSp>
        <p:nvCxnSpPr>
          <p:cNvPr id="67" name="Shape 67"/>
          <p:cNvCxnSpPr/>
          <p:nvPr/>
        </p:nvCxnSpPr>
        <p:spPr>
          <a:xfrm>
            <a:off x="404850" y="1350325"/>
            <a:ext cx="0" cy="26408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8" name="Shape 68"/>
          <p:cNvSpPr txBox="1"/>
          <p:nvPr/>
        </p:nvSpPr>
        <p:spPr>
          <a:xfrm>
            <a:off x="124150" y="1002925"/>
            <a:ext cx="598199" cy="34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time</a:t>
            </a:r>
          </a:p>
        </p:txBody>
      </p:sp>
      <p:sp>
        <p:nvSpPr>
          <p:cNvPr id="69" name="Shape 69"/>
          <p:cNvSpPr/>
          <p:nvPr/>
        </p:nvSpPr>
        <p:spPr>
          <a:xfrm>
            <a:off x="6551275" y="3556675"/>
            <a:ext cx="2055599" cy="754799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is this valid?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6952300" y="2534975"/>
            <a:ext cx="1553100" cy="57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finite scan to check for validity</a:t>
            </a:r>
          </a:p>
        </p:txBody>
      </p:sp>
      <p:sp>
        <p:nvSpPr>
          <p:cNvPr id="71" name="Shape 71"/>
          <p:cNvSpPr/>
          <p:nvPr/>
        </p:nvSpPr>
        <p:spPr>
          <a:xfrm>
            <a:off x="870275" y="2618175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2[0]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8.0→Carol, </a:t>
            </a:r>
            <a:r>
              <a:rPr lang="en-US" sz="1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r>
              <a:rPr lang="en" sz="1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.0→Bob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SIGNED(Bob)</a:t>
            </a:r>
          </a:p>
        </p:txBody>
      </p:sp>
      <p:sp>
        <p:nvSpPr>
          <p:cNvPr id="72" name="Shape 72"/>
          <p:cNvSpPr/>
          <p:nvPr/>
        </p:nvSpPr>
        <p:spPr>
          <a:xfrm>
            <a:off x="870275" y="3556675"/>
            <a:ext cx="5616600" cy="933599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2[1]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6.0→David, 2.0→Alice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</a:p>
        </p:txBody>
      </p:sp>
      <p:cxnSp>
        <p:nvCxnSpPr>
          <p:cNvPr id="73" name="Shape 73"/>
          <p:cNvCxnSpPr/>
          <p:nvPr/>
        </p:nvCxnSpPr>
        <p:spPr>
          <a:xfrm rot="10800000" flipH="1">
            <a:off x="2455950" y="2336524"/>
            <a:ext cx="1573500" cy="1251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4" name="Shape 74"/>
          <p:cNvCxnSpPr/>
          <p:nvPr/>
        </p:nvCxnSpPr>
        <p:spPr>
          <a:xfrm rot="10800000">
            <a:off x="6781325" y="2097874"/>
            <a:ext cx="0" cy="1481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id="75" name="Shape 75"/>
          <p:cNvSpPr txBox="1"/>
          <p:nvPr/>
        </p:nvSpPr>
        <p:spPr>
          <a:xfrm>
            <a:off x="6634800" y="1115025"/>
            <a:ext cx="2318100" cy="651599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we implement this with hash pointers</a:t>
            </a:r>
          </a:p>
        </p:txBody>
      </p:sp>
      <p:cxnSp>
        <p:nvCxnSpPr>
          <p:cNvPr id="76" name="Shape 76"/>
          <p:cNvCxnSpPr/>
          <p:nvPr/>
        </p:nvCxnSpPr>
        <p:spPr>
          <a:xfrm rot="10800000" flipH="1">
            <a:off x="2496625" y="2307424"/>
            <a:ext cx="434400" cy="415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7" name="Shape 77"/>
          <p:cNvCxnSpPr/>
          <p:nvPr/>
        </p:nvCxnSpPr>
        <p:spPr>
          <a:xfrm rot="10800000" flipH="1">
            <a:off x="2455950" y="1476000"/>
            <a:ext cx="437999" cy="282299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8" name="Shape 78"/>
          <p:cNvSpPr/>
          <p:nvPr/>
        </p:nvSpPr>
        <p:spPr>
          <a:xfrm>
            <a:off x="3932975" y="1495775"/>
            <a:ext cx="2219399" cy="524399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change address</a:t>
            </a:r>
          </a:p>
        </p:txBody>
      </p:sp>
      <p:sp>
        <p:nvSpPr>
          <p:cNvPr id="79" name="Shape 79"/>
          <p:cNvSpPr txBox="1"/>
          <p:nvPr/>
        </p:nvSpPr>
        <p:spPr>
          <a:xfrm>
            <a:off x="870275" y="82227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870275" y="167967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2</a:t>
            </a:r>
          </a:p>
        </p:txBody>
      </p:sp>
      <p:sp>
        <p:nvSpPr>
          <p:cNvPr id="81" name="Shape 81"/>
          <p:cNvSpPr txBox="1"/>
          <p:nvPr/>
        </p:nvSpPr>
        <p:spPr>
          <a:xfrm>
            <a:off x="870275" y="261817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870275" y="355667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4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457200" y="403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Merging value</a:t>
            </a:r>
          </a:p>
        </p:txBody>
      </p:sp>
      <p:sp>
        <p:nvSpPr>
          <p:cNvPr id="88" name="Shape 88"/>
          <p:cNvSpPr/>
          <p:nvPr/>
        </p:nvSpPr>
        <p:spPr>
          <a:xfrm>
            <a:off x="870275" y="1191937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...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17.0→Bob, 8.0→Alice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</a:p>
        </p:txBody>
      </p:sp>
      <p:sp>
        <p:nvSpPr>
          <p:cNvPr id="89" name="Shape 89"/>
          <p:cNvSpPr/>
          <p:nvPr/>
        </p:nvSpPr>
        <p:spPr>
          <a:xfrm>
            <a:off x="2358000" y="4563925"/>
            <a:ext cx="4427999" cy="5268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</a:p>
        </p:txBody>
      </p:sp>
      <p:cxnSp>
        <p:nvCxnSpPr>
          <p:cNvPr id="90" name="Shape 90"/>
          <p:cNvCxnSpPr/>
          <p:nvPr/>
        </p:nvCxnSpPr>
        <p:spPr>
          <a:xfrm>
            <a:off x="404850" y="1350325"/>
            <a:ext cx="0" cy="26408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1" name="Shape 91"/>
          <p:cNvSpPr txBox="1"/>
          <p:nvPr/>
        </p:nvSpPr>
        <p:spPr>
          <a:xfrm>
            <a:off x="124150" y="1002925"/>
            <a:ext cx="598199" cy="34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time</a:t>
            </a:r>
          </a:p>
        </p:txBody>
      </p:sp>
      <p:sp>
        <p:nvSpPr>
          <p:cNvPr id="92" name="Shape 92"/>
          <p:cNvSpPr/>
          <p:nvPr/>
        </p:nvSpPr>
        <p:spPr>
          <a:xfrm>
            <a:off x="870275" y="2344725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1[1]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6.0→Carol, 2.0→Bob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</a:t>
            </a:r>
          </a:p>
        </p:txBody>
      </p:sp>
      <p:sp>
        <p:nvSpPr>
          <p:cNvPr id="93" name="Shape 93"/>
          <p:cNvSpPr/>
          <p:nvPr/>
        </p:nvSpPr>
        <p:spPr>
          <a:xfrm>
            <a:off x="870275" y="3556675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1[0], 2[1]</a:t>
            </a:r>
          </a:p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19.0→Bob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SIGNED(Bob)</a:t>
            </a:r>
          </a:p>
        </p:txBody>
      </p:sp>
      <p:cxnSp>
        <p:nvCxnSpPr>
          <p:cNvPr id="94" name="Shape 94"/>
          <p:cNvCxnSpPr/>
          <p:nvPr/>
        </p:nvCxnSpPr>
        <p:spPr>
          <a:xfrm rot="10800000" flipH="1">
            <a:off x="2401475" y="1905924"/>
            <a:ext cx="358499" cy="1685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5" name="Shape 95"/>
          <p:cNvCxnSpPr/>
          <p:nvPr/>
        </p:nvCxnSpPr>
        <p:spPr>
          <a:xfrm rot="10800000" flipH="1">
            <a:off x="2996325" y="3004049"/>
            <a:ext cx="1220099" cy="594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6" name="Shape 96"/>
          <p:cNvSpPr txBox="1"/>
          <p:nvPr/>
        </p:nvSpPr>
        <p:spPr>
          <a:xfrm>
            <a:off x="947725" y="2061075"/>
            <a:ext cx="340499" cy="230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...</a:t>
            </a:r>
          </a:p>
        </p:txBody>
      </p:sp>
      <p:sp>
        <p:nvSpPr>
          <p:cNvPr id="97" name="Shape 97"/>
          <p:cNvSpPr txBox="1"/>
          <p:nvPr/>
        </p:nvSpPr>
        <p:spPr>
          <a:xfrm>
            <a:off x="947725" y="3278325"/>
            <a:ext cx="340499" cy="230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...</a:t>
            </a:r>
          </a:p>
        </p:txBody>
      </p:sp>
      <p:sp>
        <p:nvSpPr>
          <p:cNvPr id="98" name="Shape 98"/>
          <p:cNvSpPr txBox="1"/>
          <p:nvPr/>
        </p:nvSpPr>
        <p:spPr>
          <a:xfrm>
            <a:off x="870275" y="1191950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</p:txBody>
      </p:sp>
      <p:sp>
        <p:nvSpPr>
          <p:cNvPr id="99" name="Shape 99"/>
          <p:cNvSpPr txBox="1"/>
          <p:nvPr/>
        </p:nvSpPr>
        <p:spPr>
          <a:xfrm>
            <a:off x="870275" y="234472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2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870275" y="355667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457200" y="403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Joint payments</a:t>
            </a:r>
          </a:p>
        </p:txBody>
      </p:sp>
      <p:sp>
        <p:nvSpPr>
          <p:cNvPr id="106" name="Shape 106"/>
          <p:cNvSpPr/>
          <p:nvPr/>
        </p:nvSpPr>
        <p:spPr>
          <a:xfrm>
            <a:off x="870275" y="1191937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...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17.0→Bob, 8.0→Alice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</a:p>
        </p:txBody>
      </p:sp>
      <p:sp>
        <p:nvSpPr>
          <p:cNvPr id="107" name="Shape 107"/>
          <p:cNvSpPr/>
          <p:nvPr/>
        </p:nvSpPr>
        <p:spPr>
          <a:xfrm>
            <a:off x="2358000" y="4563925"/>
            <a:ext cx="4427999" cy="5268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</a:p>
        </p:txBody>
      </p:sp>
      <p:cxnSp>
        <p:nvCxnSpPr>
          <p:cNvPr id="108" name="Shape 108"/>
          <p:cNvCxnSpPr/>
          <p:nvPr/>
        </p:nvCxnSpPr>
        <p:spPr>
          <a:xfrm>
            <a:off x="404850" y="1350325"/>
            <a:ext cx="0" cy="26408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9" name="Shape 109"/>
          <p:cNvSpPr txBox="1"/>
          <p:nvPr/>
        </p:nvSpPr>
        <p:spPr>
          <a:xfrm>
            <a:off x="124150" y="1002925"/>
            <a:ext cx="598199" cy="34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time</a:t>
            </a:r>
          </a:p>
        </p:txBody>
      </p:sp>
      <p:sp>
        <p:nvSpPr>
          <p:cNvPr id="110" name="Shape 110"/>
          <p:cNvSpPr/>
          <p:nvPr/>
        </p:nvSpPr>
        <p:spPr>
          <a:xfrm>
            <a:off x="870275" y="2344725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1[1]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6.0→Carol, 2.0→Bob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</a:t>
            </a:r>
          </a:p>
        </p:txBody>
      </p:sp>
      <p:sp>
        <p:nvSpPr>
          <p:cNvPr id="111" name="Shape 111"/>
          <p:cNvSpPr/>
          <p:nvPr/>
        </p:nvSpPr>
        <p:spPr>
          <a:xfrm>
            <a:off x="870275" y="3556675"/>
            <a:ext cx="5616600" cy="933599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2[0], 2[1]</a:t>
            </a:r>
          </a:p>
          <a:p>
            <a:pPr lvl="0" indent="45720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8.0→David</a:t>
            </a:r>
          </a:p>
          <a:p>
            <a:pPr lvl="0" algn="r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SIGNED(Carol), SIGNED(Bob)</a:t>
            </a:r>
          </a:p>
        </p:txBody>
      </p:sp>
      <p:cxnSp>
        <p:nvCxnSpPr>
          <p:cNvPr id="112" name="Shape 112"/>
          <p:cNvCxnSpPr/>
          <p:nvPr/>
        </p:nvCxnSpPr>
        <p:spPr>
          <a:xfrm rot="10800000" flipH="1">
            <a:off x="2431975" y="3034924"/>
            <a:ext cx="404100" cy="525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13" name="Shape 113"/>
          <p:cNvCxnSpPr/>
          <p:nvPr/>
        </p:nvCxnSpPr>
        <p:spPr>
          <a:xfrm rot="10800000" flipH="1">
            <a:off x="2956325" y="2996449"/>
            <a:ext cx="1229700" cy="57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4" name="Shape 114"/>
          <p:cNvSpPr txBox="1"/>
          <p:nvPr/>
        </p:nvSpPr>
        <p:spPr>
          <a:xfrm>
            <a:off x="947725" y="2061075"/>
            <a:ext cx="340499" cy="230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...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947725" y="3278325"/>
            <a:ext cx="340499" cy="230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...</a:t>
            </a:r>
          </a:p>
        </p:txBody>
      </p:sp>
      <p:sp>
        <p:nvSpPr>
          <p:cNvPr id="116" name="Shape 116"/>
          <p:cNvSpPr/>
          <p:nvPr/>
        </p:nvSpPr>
        <p:spPr>
          <a:xfrm>
            <a:off x="4490200" y="3735700"/>
            <a:ext cx="1904699" cy="487799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two signatures!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870275" y="1191950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870275" y="234472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2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870275" y="3556675"/>
            <a:ext cx="338699" cy="3474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The real deal: a Bitcoin transaction</a:t>
            </a:r>
          </a:p>
        </p:txBody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2085825" y="804450"/>
            <a:ext cx="8229600" cy="414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122222"/>
              <a:buFont typeface="Arial"/>
              <a:buNone/>
            </a:pPr>
            <a:r>
              <a:rPr lang="en" sz="900"/>
              <a:t>{</a:t>
            </a:r>
            <a:br>
              <a:rPr lang="en" sz="900"/>
            </a:br>
            <a:r>
              <a:rPr lang="en" sz="900"/>
              <a:t>      "hash":"5a42590fbe0a90ee8e8747244d6c84f0db1a3a24e8f1b95b10c9e050990b8b6b",</a:t>
            </a:r>
            <a:br>
              <a:rPr lang="en" sz="900"/>
            </a:br>
            <a:r>
              <a:rPr lang="en" sz="900"/>
              <a:t>      "ver":1,</a:t>
            </a:r>
            <a:br>
              <a:rPr lang="en" sz="900"/>
            </a:br>
            <a:r>
              <a:rPr lang="en" sz="900"/>
              <a:t>      "vin_sz":2,</a:t>
            </a:r>
            <a:br>
              <a:rPr lang="en" sz="900"/>
            </a:br>
            <a:r>
              <a:rPr lang="en" sz="900"/>
              <a:t>      "vout_sz":1,</a:t>
            </a:r>
            <a:br>
              <a:rPr lang="en" sz="900"/>
            </a:br>
            <a:r>
              <a:rPr lang="en" sz="900"/>
              <a:t>      "lock_time":0,</a:t>
            </a:r>
            <a:br>
              <a:rPr lang="en" sz="900"/>
            </a:br>
            <a:r>
              <a:rPr lang="en" sz="900"/>
              <a:t>      "size":404,</a:t>
            </a:r>
            <a:br>
              <a:rPr lang="en" sz="900"/>
            </a:br>
            <a:r>
              <a:rPr lang="en" sz="900"/>
              <a:t>      "in":[</a:t>
            </a:r>
            <a:br>
              <a:rPr lang="en" sz="900"/>
            </a:br>
            <a:r>
              <a:rPr lang="en" sz="900"/>
              <a:t>        {</a:t>
            </a:r>
            <a:br>
              <a:rPr lang="en" sz="900"/>
            </a:br>
            <a:r>
              <a:rPr lang="en" sz="900"/>
              <a:t>          "prev_out":{</a:t>
            </a:r>
            <a:br>
              <a:rPr lang="en" sz="900"/>
            </a:br>
            <a:r>
              <a:rPr lang="en" sz="900"/>
              <a:t>            "hash":"3be4ac9728a0823cf5e2deb2e86fc0bd2aa503a91d307b42ba76117d79280260",</a:t>
            </a:r>
            <a:br>
              <a:rPr lang="en" sz="900"/>
            </a:br>
            <a:r>
              <a:rPr lang="en" sz="900"/>
              <a:t>            "n":0</a:t>
            </a:r>
            <a:br>
              <a:rPr lang="en" sz="900"/>
            </a:br>
            <a:r>
              <a:rPr lang="en" sz="900"/>
              <a:t>          }, </a:t>
            </a:r>
          </a:p>
          <a:p>
            <a:pPr lvl="0" indent="387350" rtl="0">
              <a:spcBef>
                <a:spcPts val="0"/>
              </a:spcBef>
              <a:buClr>
                <a:schemeClr val="dk1"/>
              </a:buClr>
              <a:buSzPct val="122222"/>
              <a:buFont typeface="Arial"/>
              <a:buNone/>
            </a:pPr>
            <a:r>
              <a:rPr lang="en" sz="900"/>
              <a:t>"scriptSig":"30440..."</a:t>
            </a:r>
            <a:br>
              <a:rPr lang="en" sz="900"/>
            </a:br>
            <a:r>
              <a:rPr lang="en" sz="900"/>
              <a:t>        },</a:t>
            </a:r>
            <a:br>
              <a:rPr lang="en" sz="900"/>
            </a:br>
            <a:r>
              <a:rPr lang="en" sz="900"/>
              <a:t>        {</a:t>
            </a:r>
            <a:br>
              <a:rPr lang="en" sz="900"/>
            </a:br>
            <a:r>
              <a:rPr lang="en" sz="900"/>
              <a:t>          "prev_out":{</a:t>
            </a:r>
            <a:br>
              <a:rPr lang="en" sz="900"/>
            </a:br>
            <a:r>
              <a:rPr lang="en" sz="900"/>
              <a:t>            "hash":"7508e6ab259b4df0fd5147bab0c949d81473db4518f81afc5c3f52f91ff6b34e",</a:t>
            </a:r>
            <a:br>
              <a:rPr lang="en" sz="900"/>
            </a:br>
            <a:r>
              <a:rPr lang="en" sz="900"/>
              <a:t>            "n":0</a:t>
            </a:r>
            <a:br>
              <a:rPr lang="en" sz="900"/>
            </a:br>
            <a:r>
              <a:rPr lang="en" sz="900"/>
              <a:t>          },</a:t>
            </a:r>
            <a:br>
              <a:rPr lang="en" sz="900"/>
            </a:br>
            <a:r>
              <a:rPr lang="en" sz="900"/>
              <a:t>          "scriptSig":"3f3a4ce81...."</a:t>
            </a:r>
            <a:br>
              <a:rPr lang="en" sz="900"/>
            </a:br>
            <a:r>
              <a:rPr lang="en" sz="900"/>
              <a:t>        }</a:t>
            </a:r>
            <a:br>
              <a:rPr lang="en" sz="900"/>
            </a:br>
            <a:r>
              <a:rPr lang="en" sz="900"/>
              <a:t>      ],</a:t>
            </a:r>
            <a:br>
              <a:rPr lang="en" sz="900"/>
            </a:br>
            <a:r>
              <a:rPr lang="en" sz="900"/>
              <a:t>      "out":[</a:t>
            </a:r>
            <a:br>
              <a:rPr lang="en" sz="900"/>
            </a:br>
            <a:r>
              <a:rPr lang="en" sz="900"/>
              <a:t>        {</a:t>
            </a:r>
            <a:br>
              <a:rPr lang="en" sz="900"/>
            </a:br>
            <a:r>
              <a:rPr lang="en" sz="900"/>
              <a:t>          "value":"10.12287097",</a:t>
            </a:r>
            <a:br>
              <a:rPr lang="en" sz="900"/>
            </a:br>
            <a:r>
              <a:rPr lang="en" sz="900"/>
              <a:t>          "scriptPubKey":"OP_DUP OP_HASH160 69e02e18b5705a05dd6b28ed517716c894b3d42e OP_EQUALVERIFY OP_CHECKSIG"</a:t>
            </a:r>
            <a:br>
              <a:rPr lang="en" sz="900"/>
            </a:br>
            <a:r>
              <a:rPr lang="en" sz="900"/>
              <a:t>        }</a:t>
            </a:r>
            <a:br>
              <a:rPr lang="en" sz="900"/>
            </a:br>
            <a:r>
              <a:rPr lang="en" sz="900"/>
              <a:t>      ]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22222"/>
              <a:buFont typeface="Arial"/>
              <a:buNone/>
            </a:pPr>
            <a:r>
              <a:rPr lang="en" sz="900"/>
              <a:t>}</a:t>
            </a:r>
          </a:p>
          <a:p>
            <a:pPr lvl="0" indent="0" rtl="0">
              <a:spcBef>
                <a:spcPts val="0"/>
              </a:spcBef>
              <a:buNone/>
            </a:pPr>
            <a:endParaRPr sz="900"/>
          </a:p>
        </p:txBody>
      </p:sp>
      <p:sp>
        <p:nvSpPr>
          <p:cNvPr id="126" name="Shape 126"/>
          <p:cNvSpPr/>
          <p:nvPr/>
        </p:nvSpPr>
        <p:spPr>
          <a:xfrm>
            <a:off x="1763800" y="1159325"/>
            <a:ext cx="276000" cy="7545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7" name="Shape 127"/>
          <p:cNvSpPr/>
          <p:nvPr/>
        </p:nvSpPr>
        <p:spPr>
          <a:xfrm>
            <a:off x="1763800" y="2011025"/>
            <a:ext cx="276000" cy="20741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8" name="Shape 128"/>
          <p:cNvSpPr/>
          <p:nvPr/>
        </p:nvSpPr>
        <p:spPr>
          <a:xfrm>
            <a:off x="1763800" y="4182425"/>
            <a:ext cx="276000" cy="8574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280550" y="2836475"/>
            <a:ext cx="11732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input(s)</a:t>
            </a:r>
          </a:p>
        </p:txBody>
      </p:sp>
      <p:sp>
        <p:nvSpPr>
          <p:cNvPr id="130" name="Shape 130"/>
          <p:cNvSpPr txBox="1"/>
          <p:nvPr/>
        </p:nvSpPr>
        <p:spPr>
          <a:xfrm>
            <a:off x="280550" y="1394575"/>
            <a:ext cx="11732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metadata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280550" y="4307325"/>
            <a:ext cx="11732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output(s)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The real deal: transaction metadata</a:t>
            </a:r>
          </a:p>
        </p:txBody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2085825" y="850475"/>
            <a:ext cx="8229600" cy="414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{</a:t>
            </a:r>
            <a:br>
              <a:rPr lang="en" sz="2400"/>
            </a:br>
            <a:r>
              <a:rPr lang="en" sz="2400"/>
              <a:t>    "hash":"5a42590...b8b6b",</a:t>
            </a:r>
            <a:br>
              <a:rPr lang="en" sz="2400"/>
            </a:br>
            <a:r>
              <a:rPr lang="en" sz="2400"/>
              <a:t>      "ver":1,</a:t>
            </a:r>
            <a:br>
              <a:rPr lang="en" sz="2400"/>
            </a:br>
            <a:r>
              <a:rPr lang="en" sz="2400"/>
              <a:t>      "vin_sz":2,</a:t>
            </a:r>
            <a:br>
              <a:rPr lang="en" sz="2400"/>
            </a:br>
            <a:r>
              <a:rPr lang="en" sz="2400"/>
              <a:t>      "vout_sz":1,</a:t>
            </a:r>
            <a:br>
              <a:rPr lang="en" sz="2400"/>
            </a:br>
            <a:r>
              <a:rPr lang="en" sz="2400"/>
              <a:t>      "lock_time":0,</a:t>
            </a:r>
            <a:br>
              <a:rPr lang="en" sz="2400"/>
            </a:br>
            <a:r>
              <a:rPr lang="en" sz="2400"/>
              <a:t>      "size":404,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/>
              <a:t>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/>
              <a:t>}</a:t>
            </a:r>
          </a:p>
        </p:txBody>
      </p:sp>
      <p:sp>
        <p:nvSpPr>
          <p:cNvPr id="138" name="Shape 138"/>
          <p:cNvSpPr/>
          <p:nvPr/>
        </p:nvSpPr>
        <p:spPr>
          <a:xfrm>
            <a:off x="1763800" y="1817875"/>
            <a:ext cx="321899" cy="9476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280550" y="3176375"/>
            <a:ext cx="14831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housekeeping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280475" y="2080075"/>
            <a:ext cx="14831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housekeeping</a:t>
            </a:r>
          </a:p>
        </p:txBody>
      </p:sp>
      <p:sp>
        <p:nvSpPr>
          <p:cNvPr id="141" name="Shape 141"/>
          <p:cNvSpPr/>
          <p:nvPr/>
        </p:nvSpPr>
        <p:spPr>
          <a:xfrm>
            <a:off x="1809825" y="3259775"/>
            <a:ext cx="276000" cy="2565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2" name="Shape 142"/>
          <p:cNvSpPr txBox="1"/>
          <p:nvPr/>
        </p:nvSpPr>
        <p:spPr>
          <a:xfrm>
            <a:off x="230525" y="1360075"/>
            <a:ext cx="1579200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transaction hash</a:t>
            </a:r>
          </a:p>
        </p:txBody>
      </p:sp>
      <p:sp>
        <p:nvSpPr>
          <p:cNvPr id="143" name="Shape 143"/>
          <p:cNvSpPr/>
          <p:nvPr/>
        </p:nvSpPr>
        <p:spPr>
          <a:xfrm>
            <a:off x="1759800" y="1443475"/>
            <a:ext cx="276000" cy="2565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4" name="Shape 144"/>
          <p:cNvSpPr txBox="1"/>
          <p:nvPr/>
        </p:nvSpPr>
        <p:spPr>
          <a:xfrm>
            <a:off x="280550" y="2801025"/>
            <a:ext cx="1579200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“not valid before”</a:t>
            </a:r>
          </a:p>
        </p:txBody>
      </p:sp>
      <p:sp>
        <p:nvSpPr>
          <p:cNvPr id="145" name="Shape 145"/>
          <p:cNvSpPr/>
          <p:nvPr/>
        </p:nvSpPr>
        <p:spPr>
          <a:xfrm>
            <a:off x="1809825" y="2884425"/>
            <a:ext cx="276000" cy="2565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The real deal: transaction inputs</a:t>
            </a:r>
          </a:p>
        </p:txBody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1993825" y="1104150"/>
            <a:ext cx="8229600" cy="41219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/>
              <a:t>      "in":[</a:t>
            </a:r>
            <a:br>
              <a:rPr lang="en" sz="2000"/>
            </a:br>
            <a:r>
              <a:rPr lang="en" sz="2000"/>
              <a:t>        {</a:t>
            </a:r>
            <a:br>
              <a:rPr lang="en" sz="2000"/>
            </a:br>
            <a:r>
              <a:rPr lang="en" sz="2000"/>
              <a:t>          "prev_out":{</a:t>
            </a:r>
            <a:br>
              <a:rPr lang="en" sz="2000"/>
            </a:br>
            <a:r>
              <a:rPr lang="en" sz="2000"/>
              <a:t>            "hash":"3be4...80260",</a:t>
            </a:r>
            <a:br>
              <a:rPr lang="en" sz="2000"/>
            </a:br>
            <a:r>
              <a:rPr lang="en" sz="2000"/>
              <a:t>            "n":0</a:t>
            </a:r>
            <a:br>
              <a:rPr lang="en" sz="2000"/>
            </a:br>
            <a:r>
              <a:rPr lang="en" sz="2000"/>
              <a:t>          }, 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" sz="2000"/>
              <a:t>"scriptSig":"30440....3f3a4ce81"</a:t>
            </a:r>
            <a:br>
              <a:rPr lang="en" sz="2000"/>
            </a:br>
            <a:r>
              <a:rPr lang="en" sz="2000"/>
              <a:t>        },</a:t>
            </a:r>
            <a:br>
              <a:rPr lang="en" sz="2000"/>
            </a:br>
            <a:r>
              <a:rPr lang="en" sz="2000"/>
              <a:t>      ...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/>
              <a:t>      ],</a:t>
            </a:r>
          </a:p>
        </p:txBody>
      </p:sp>
      <p:sp>
        <p:nvSpPr>
          <p:cNvPr id="153" name="Shape 153"/>
          <p:cNvSpPr/>
          <p:nvPr/>
        </p:nvSpPr>
        <p:spPr>
          <a:xfrm>
            <a:off x="1846600" y="2011025"/>
            <a:ext cx="276000" cy="7545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4" name="Shape 154"/>
          <p:cNvSpPr/>
          <p:nvPr/>
        </p:nvSpPr>
        <p:spPr>
          <a:xfrm>
            <a:off x="1867300" y="3111475"/>
            <a:ext cx="234599" cy="3401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1888000" y="3797625"/>
            <a:ext cx="193200" cy="4233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6" name="Shape 156"/>
          <p:cNvSpPr txBox="1"/>
          <p:nvPr/>
        </p:nvSpPr>
        <p:spPr>
          <a:xfrm>
            <a:off x="280550" y="3069925"/>
            <a:ext cx="11732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signature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280550" y="2011025"/>
            <a:ext cx="1173299" cy="57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previous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transaction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280550" y="3797625"/>
            <a:ext cx="1329599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(more inputs)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The real deal: transaction outputs</a:t>
            </a:r>
          </a:p>
        </p:txBody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1993825" y="1104150"/>
            <a:ext cx="8229600" cy="41219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 dirty="0"/>
              <a:t>  "out":[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/>
              <a:t>        {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/>
              <a:t>          "value":"10.12287097",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/>
              <a:t>          "scriptPubKey":"OP_DUP OP_HASH160 69e...3d42e OP_EQUALVERIFY OP_CHECKSIG"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/>
              <a:t>        },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/>
              <a:t>	  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/>
              <a:t>      ]</a:t>
            </a:r>
          </a:p>
          <a:p>
            <a:pPr lvl="0" rtl="0">
              <a:spcBef>
                <a:spcPts val="0"/>
              </a:spcBef>
              <a:buNone/>
            </a:pPr>
            <a:endParaRPr sz="2000" dirty="0"/>
          </a:p>
          <a:p>
            <a:pPr lvl="0" rtl="0">
              <a:spcBef>
                <a:spcPts val="0"/>
              </a:spcBef>
              <a:buNone/>
            </a:pPr>
            <a:endParaRPr sz="2000" dirty="0"/>
          </a:p>
        </p:txBody>
      </p:sp>
      <p:sp>
        <p:nvSpPr>
          <p:cNvPr id="165" name="Shape 165"/>
          <p:cNvSpPr/>
          <p:nvPr/>
        </p:nvSpPr>
        <p:spPr>
          <a:xfrm>
            <a:off x="1846600" y="2011025"/>
            <a:ext cx="297300" cy="3401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6" name="Shape 166"/>
          <p:cNvSpPr/>
          <p:nvPr/>
        </p:nvSpPr>
        <p:spPr>
          <a:xfrm>
            <a:off x="1888000" y="3797625"/>
            <a:ext cx="193200" cy="4233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7" name="Shape 167"/>
          <p:cNvSpPr txBox="1"/>
          <p:nvPr/>
        </p:nvSpPr>
        <p:spPr>
          <a:xfrm>
            <a:off x="280550" y="1873000"/>
            <a:ext cx="11732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output value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280550" y="2546750"/>
            <a:ext cx="1173299" cy="57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recipient address??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280550" y="3797625"/>
            <a:ext cx="15660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(more outputs)</a:t>
            </a:r>
          </a:p>
        </p:txBody>
      </p:sp>
      <p:sp>
        <p:nvSpPr>
          <p:cNvPr id="170" name="Shape 170"/>
          <p:cNvSpPr/>
          <p:nvPr/>
        </p:nvSpPr>
        <p:spPr>
          <a:xfrm>
            <a:off x="4536225" y="3156050"/>
            <a:ext cx="1895399" cy="452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more on this soon...</a:t>
            </a:r>
          </a:p>
        </p:txBody>
      </p:sp>
      <p:cxnSp>
        <p:nvCxnSpPr>
          <p:cNvPr id="171" name="Shape 171"/>
          <p:cNvCxnSpPr>
            <a:stCxn id="168" idx="3"/>
            <a:endCxn id="172" idx="2"/>
          </p:cNvCxnSpPr>
          <p:nvPr/>
        </p:nvCxnSpPr>
        <p:spPr>
          <a:xfrm flipV="1">
            <a:off x="1453849" y="2291100"/>
            <a:ext cx="5658243" cy="542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2" name="Shape 172"/>
          <p:cNvSpPr/>
          <p:nvPr/>
        </p:nvSpPr>
        <p:spPr>
          <a:xfrm>
            <a:off x="7112092" y="2003850"/>
            <a:ext cx="1500599" cy="574499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subTitle" idx="1"/>
          </p:nvPr>
        </p:nvSpPr>
        <p:spPr>
          <a:xfrm>
            <a:off x="685800" y="1690471"/>
            <a:ext cx="7772400" cy="1723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endParaRPr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r>
              <a:rPr lang="en-US" dirty="0"/>
              <a:t>3.2: </a:t>
            </a:r>
            <a:r>
              <a:rPr lang="en" dirty="0"/>
              <a:t>Bitcoin scripts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449499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Output “addresses” are really </a:t>
            </a:r>
            <a:r>
              <a:rPr lang="en" i="1"/>
              <a:t>scripts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1600950" y="2910400"/>
            <a:ext cx="7094100" cy="1684199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OP_DUP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OP_HASH160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69e02e18...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OP_EQUALVERIFY OP_CHECKSIG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449499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Input “addresses” are </a:t>
            </a:r>
            <a:r>
              <a:rPr lang="en" i="1"/>
              <a:t>also</a:t>
            </a:r>
            <a:r>
              <a:rPr lang="en"/>
              <a:t> scripts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1600950" y="2910400"/>
            <a:ext cx="7094100" cy="1684199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OP_DUP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OP_HASH160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69e02e18...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OP_EQUALVERIFY OP_CHECKSIG</a:t>
            </a:r>
          </a:p>
        </p:txBody>
      </p:sp>
      <p:sp>
        <p:nvSpPr>
          <p:cNvPr id="190" name="Shape 190"/>
          <p:cNvSpPr txBox="1"/>
          <p:nvPr/>
        </p:nvSpPr>
        <p:spPr>
          <a:xfrm>
            <a:off x="1600950" y="1226200"/>
            <a:ext cx="7094100" cy="1684199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30440220...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0467d2c9...</a:t>
            </a:r>
          </a:p>
        </p:txBody>
      </p:sp>
      <p:sp>
        <p:nvSpPr>
          <p:cNvPr id="191" name="Shape 191"/>
          <p:cNvSpPr/>
          <p:nvPr/>
        </p:nvSpPr>
        <p:spPr>
          <a:xfrm>
            <a:off x="1138100" y="1293325"/>
            <a:ext cx="370799" cy="16169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2" name="Shape 192"/>
          <p:cNvSpPr/>
          <p:nvPr/>
        </p:nvSpPr>
        <p:spPr>
          <a:xfrm>
            <a:off x="1138100" y="2977600"/>
            <a:ext cx="370799" cy="16169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3" name="Shape 193"/>
          <p:cNvSpPr txBox="1"/>
          <p:nvPr/>
        </p:nvSpPr>
        <p:spPr>
          <a:xfrm>
            <a:off x="119650" y="1890175"/>
            <a:ext cx="926400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scriptSig</a:t>
            </a:r>
          </a:p>
        </p:txBody>
      </p:sp>
      <p:sp>
        <p:nvSpPr>
          <p:cNvPr id="194" name="Shape 194"/>
          <p:cNvSpPr txBox="1"/>
          <p:nvPr/>
        </p:nvSpPr>
        <p:spPr>
          <a:xfrm>
            <a:off x="0" y="3540850"/>
            <a:ext cx="1334100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scriptPubKey</a:t>
            </a:r>
          </a:p>
        </p:txBody>
      </p:sp>
      <p:sp>
        <p:nvSpPr>
          <p:cNvPr id="195" name="Shape 195"/>
          <p:cNvSpPr/>
          <p:nvPr/>
        </p:nvSpPr>
        <p:spPr>
          <a:xfrm>
            <a:off x="1978275" y="4667425"/>
            <a:ext cx="6266100" cy="4233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>
                <a:latin typeface="Trebuchet MS"/>
                <a:ea typeface="Trebuchet MS"/>
                <a:cs typeface="Trebuchet MS"/>
                <a:sym typeface="Trebuchet MS"/>
              </a:rPr>
              <a:t>TO VERIFY</a:t>
            </a: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: Concatenated script must execute completely with no errors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449499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Bitcoin scripting language (“Script”)</a:t>
            </a:r>
          </a:p>
        </p:txBody>
      </p:sp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142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Design goals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Built for Bitcoin (inspired by Forth)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Simple, compact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Support for cryptography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Stack-based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Limits on time/memory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No looping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7223925" y="4862837"/>
            <a:ext cx="1771800" cy="30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000"/>
              <a:t>image via Jessie St. Amand</a:t>
            </a:r>
          </a:p>
        </p:txBody>
      </p:sp>
      <p:pic>
        <p:nvPicPr>
          <p:cNvPr id="203" name="Shape 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825" y="2394525"/>
            <a:ext cx="1988850" cy="24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Shape 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0825" y="4902800"/>
            <a:ext cx="643100" cy="223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Shape 205"/>
          <p:cNvSpPr/>
          <p:nvPr/>
        </p:nvSpPr>
        <p:spPr>
          <a:xfrm>
            <a:off x="4278575" y="2254200"/>
            <a:ext cx="2999699" cy="635100"/>
          </a:xfrm>
          <a:prstGeom prst="wedgeEllipseCallout">
            <a:avLst>
              <a:gd name="adj1" fmla="val 42730"/>
              <a:gd name="adj2" fmla="val 11587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I am not impressed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Script Operations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222517"/>
              </p:ext>
            </p:extLst>
          </p:nvPr>
        </p:nvGraphicFramePr>
        <p:xfrm>
          <a:off x="457200" y="1063228"/>
          <a:ext cx="8229600" cy="398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5136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Calibri"/>
                        </a:rPr>
                        <a:t>OP_DUP 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Calibri"/>
                        </a:rPr>
                        <a:t>Duplicates the top item on the stack 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136">
                <a:tc>
                  <a:txBody>
                    <a:bodyPr/>
                    <a:lstStyle/>
                    <a:p>
                      <a:r>
                        <a:rPr lang="nl-NL" sz="2000" b="1">
                          <a:effectLst/>
                          <a:latin typeface="Consolas"/>
                        </a:rPr>
                        <a:t>OP_HASH160 </a:t>
                      </a:r>
                      <a:endParaRPr lang="nl-NL" sz="2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libri"/>
                        </a:rPr>
                        <a:t>Hashes twice: first using SHA-256 and then RIPEMD-160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136"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  <a:latin typeface="Consolas"/>
                        </a:rPr>
                        <a:t>OP_EQUALVERIFY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libri"/>
                        </a:rPr>
                        <a:t>Returns true if the inputs are equal. Returns false and marks the transaction as invalid if they are unequal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136"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  <a:latin typeface="Consolas"/>
                        </a:rPr>
                        <a:t>OP_CHECKSIG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libri"/>
                        </a:rPr>
                        <a:t>Checks that the input signature is a valid signature using the input public key for the hash of the current transaction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136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Consolas"/>
                        </a:rPr>
                        <a:t>OP_CHECKMULTISIG 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Calibri"/>
                        </a:rPr>
                        <a:t>Checks that the </a:t>
                      </a:r>
                      <a:r>
                        <a:rPr lang="en-US" sz="2000" i="1" dirty="0">
                          <a:effectLst/>
                          <a:latin typeface="Calibri"/>
                        </a:rPr>
                        <a:t>k</a:t>
                      </a:r>
                      <a:r>
                        <a:rPr lang="en-US" sz="2000" dirty="0">
                          <a:effectLst/>
                          <a:latin typeface="Gautami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alibri"/>
                        </a:rPr>
                        <a:t>signatures on the transaction are valid signatures from </a:t>
                      </a:r>
                      <a:r>
                        <a:rPr lang="en-US" sz="2000" i="1" dirty="0">
                          <a:effectLst/>
                          <a:latin typeface="Calibri"/>
                        </a:rPr>
                        <a:t>k</a:t>
                      </a:r>
                      <a:r>
                        <a:rPr lang="en-US" sz="2000" dirty="0">
                          <a:effectLst/>
                          <a:latin typeface="Gautami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alibri"/>
                        </a:rPr>
                        <a:t>of the specified public keys. 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935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Bitcoin script execution example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0" y="4408325"/>
            <a:ext cx="8952899" cy="458399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5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&lt;sig&gt; &lt;pubKey&gt; OP_DUP OP_HASH160 &lt;pubKeyHash?&gt; OP_EQUALVERIFY OP_CHECKSIG</a:t>
            </a:r>
          </a:p>
        </p:txBody>
      </p:sp>
      <p:cxnSp>
        <p:nvCxnSpPr>
          <p:cNvPr id="212" name="Shape 212"/>
          <p:cNvCxnSpPr/>
          <p:nvPr/>
        </p:nvCxnSpPr>
        <p:spPr>
          <a:xfrm>
            <a:off x="372875" y="3826275"/>
            <a:ext cx="0" cy="497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3" name="Shape 213"/>
          <p:cNvCxnSpPr/>
          <p:nvPr/>
        </p:nvCxnSpPr>
        <p:spPr>
          <a:xfrm>
            <a:off x="1222425" y="3826275"/>
            <a:ext cx="0" cy="497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4" name="Shape 214"/>
          <p:cNvCxnSpPr/>
          <p:nvPr/>
        </p:nvCxnSpPr>
        <p:spPr>
          <a:xfrm>
            <a:off x="2290800" y="3826275"/>
            <a:ext cx="0" cy="497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330700" y="3826275"/>
            <a:ext cx="0" cy="497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6" name="Shape 216"/>
          <p:cNvCxnSpPr/>
          <p:nvPr/>
        </p:nvCxnSpPr>
        <p:spPr>
          <a:xfrm>
            <a:off x="4476450" y="3826275"/>
            <a:ext cx="0" cy="497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7" name="Shape 217"/>
          <p:cNvCxnSpPr/>
          <p:nvPr/>
        </p:nvCxnSpPr>
        <p:spPr>
          <a:xfrm>
            <a:off x="6309425" y="3826275"/>
            <a:ext cx="0" cy="497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8" name="Shape 218"/>
          <p:cNvCxnSpPr/>
          <p:nvPr/>
        </p:nvCxnSpPr>
        <p:spPr>
          <a:xfrm>
            <a:off x="8051225" y="3826275"/>
            <a:ext cx="0" cy="497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9" name="Shape 219"/>
          <p:cNvSpPr/>
          <p:nvPr/>
        </p:nvSpPr>
        <p:spPr>
          <a:xfrm>
            <a:off x="2842800" y="2881250"/>
            <a:ext cx="2842199" cy="474299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&lt;sig&gt;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3633425" y="1000675"/>
            <a:ext cx="1137600" cy="20513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9600" b="1">
                <a:solidFill>
                  <a:srgbClr val="274E13"/>
                </a:solidFill>
                <a:highlight>
                  <a:srgbClr val="F9F9F9"/>
                </a:highlight>
              </a:rPr>
              <a:t>✓</a:t>
            </a:r>
          </a:p>
        </p:txBody>
      </p:sp>
      <p:sp>
        <p:nvSpPr>
          <p:cNvPr id="221" name="Shape 221"/>
          <p:cNvSpPr/>
          <p:nvPr/>
        </p:nvSpPr>
        <p:spPr>
          <a:xfrm>
            <a:off x="2842800" y="2406950"/>
            <a:ext cx="2842199" cy="474299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&lt;pubKey&gt;</a:t>
            </a:r>
          </a:p>
        </p:txBody>
      </p:sp>
      <p:sp>
        <p:nvSpPr>
          <p:cNvPr id="222" name="Shape 222"/>
          <p:cNvSpPr/>
          <p:nvPr/>
        </p:nvSpPr>
        <p:spPr>
          <a:xfrm>
            <a:off x="2842800" y="1932650"/>
            <a:ext cx="2842199" cy="474299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&lt;pubKey&gt;</a:t>
            </a:r>
          </a:p>
        </p:txBody>
      </p:sp>
      <p:sp>
        <p:nvSpPr>
          <p:cNvPr id="223" name="Shape 223"/>
          <p:cNvSpPr/>
          <p:nvPr/>
        </p:nvSpPr>
        <p:spPr>
          <a:xfrm>
            <a:off x="2842800" y="1458350"/>
            <a:ext cx="2842199" cy="474299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&lt;pubKeyHash?&gt;</a:t>
            </a:r>
          </a:p>
        </p:txBody>
      </p:sp>
      <p:sp>
        <p:nvSpPr>
          <p:cNvPr id="224" name="Shape 224"/>
          <p:cNvSpPr/>
          <p:nvPr/>
        </p:nvSpPr>
        <p:spPr>
          <a:xfrm>
            <a:off x="2842800" y="1936225"/>
            <a:ext cx="2842199" cy="474299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&lt;pubKeyHash&gt;</a:t>
            </a:r>
          </a:p>
        </p:txBody>
      </p:sp>
      <p:sp>
        <p:nvSpPr>
          <p:cNvPr id="225" name="Shape 225"/>
          <p:cNvSpPr/>
          <p:nvPr/>
        </p:nvSpPr>
        <p:spPr>
          <a:xfrm>
            <a:off x="2842800" y="2881250"/>
            <a:ext cx="2842199" cy="474299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Bitcoin script instructions</a:t>
            </a:r>
          </a:p>
        </p:txBody>
      </p:sp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6489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256 opcodes total (15 disabled, 75 reserved)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Arithmetic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If/then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Logic/data handling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Crypto!</a:t>
            </a:r>
          </a:p>
          <a:p>
            <a:pPr marL="1828800" lvl="1" indent="-228600" rtl="0">
              <a:spcBef>
                <a:spcPts val="0"/>
              </a:spcBef>
            </a:pPr>
            <a:r>
              <a:rPr lang="en"/>
              <a:t>Hashes</a:t>
            </a:r>
          </a:p>
          <a:p>
            <a:pPr marL="1828800" lvl="1" indent="-228600" rtl="0">
              <a:spcBef>
                <a:spcPts val="0"/>
              </a:spcBef>
            </a:pPr>
            <a:r>
              <a:rPr lang="en"/>
              <a:t>Signature verification</a:t>
            </a:r>
          </a:p>
          <a:p>
            <a:pPr marL="1828800" lvl="1" indent="-228600" rtl="0">
              <a:spcBef>
                <a:spcPts val="0"/>
              </a:spcBef>
            </a:pPr>
            <a:r>
              <a:rPr lang="en"/>
              <a:t>Multi-signature verification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OP_CHECKMULTISIG</a:t>
            </a:r>
          </a:p>
        </p:txBody>
      </p:sp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2488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Trebuchet MS"/>
            </a:pPr>
            <a:r>
              <a:rPr lang="en" sz="3600"/>
              <a:t>Built-in support for joint signatures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" sz="3600"/>
              <a:t>Specify </a:t>
            </a:r>
            <a:r>
              <a:rPr lang="en" sz="3600" i="1"/>
              <a:t>n</a:t>
            </a:r>
            <a:r>
              <a:rPr lang="en" sz="3600"/>
              <a:t> public keys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" sz="3600"/>
              <a:t>Specify </a:t>
            </a:r>
            <a:r>
              <a:rPr lang="en" sz="3600" i="1"/>
              <a:t>t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" sz="3600"/>
              <a:t>Verification requires </a:t>
            </a:r>
            <a:r>
              <a:rPr lang="en" sz="3600" i="1"/>
              <a:t>t</a:t>
            </a:r>
            <a:r>
              <a:rPr lang="en" sz="3600"/>
              <a:t> signatures</a:t>
            </a:r>
          </a:p>
        </p:txBody>
      </p:sp>
      <p:pic>
        <p:nvPicPr>
          <p:cNvPr id="238" name="Shape 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949" y="3688900"/>
            <a:ext cx="1187275" cy="167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hape 239"/>
          <p:cNvSpPr txBox="1"/>
          <p:nvPr/>
        </p:nvSpPr>
        <p:spPr>
          <a:xfrm>
            <a:off x="2577225" y="4012125"/>
            <a:ext cx="6293100" cy="103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0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BUG ALERT:</a:t>
            </a:r>
            <a:r>
              <a:rPr lang="en" sz="3000">
                <a:latin typeface="Trebuchet MS"/>
                <a:ea typeface="Trebuchet MS"/>
                <a:cs typeface="Trebuchet MS"/>
                <a:sym typeface="Trebuchet MS"/>
              </a:rPr>
              <a:t> Extra data value popped from the stack and ignored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388"/>
          <p:cNvSpPr txBox="1">
            <a:spLocks noGrp="1"/>
          </p:cNvSpPr>
          <p:nvPr>
            <p:ph type="subTitle" idx="1"/>
          </p:nvPr>
        </p:nvSpPr>
        <p:spPr>
          <a:xfrm>
            <a:off x="685800" y="1690471"/>
            <a:ext cx="7772400" cy="1723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endParaRPr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r>
              <a:rPr lang="en-US" dirty="0"/>
              <a:t>3.4: </a:t>
            </a:r>
            <a:r>
              <a:rPr lang="en" dirty="0"/>
              <a:t>Bitcoin blocks</a:t>
            </a:r>
          </a:p>
        </p:txBody>
      </p:sp>
    </p:spTree>
    <p:extLst>
      <p:ext uri="{BB962C8B-B14F-4D97-AF65-F5344CB8AC3E}">
        <p14:creationId xmlns:p14="http://schemas.microsoft.com/office/powerpoint/2010/main" val="2269818673"/>
      </p:ext>
    </p:extLst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>
            <a:spLocks noGrp="1"/>
          </p:cNvSpPr>
          <p:nvPr>
            <p:ph type="title"/>
          </p:nvPr>
        </p:nvSpPr>
        <p:spPr>
          <a:xfrm>
            <a:off x="457200" y="403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Bitcoin blocks</a:t>
            </a:r>
          </a:p>
        </p:txBody>
      </p:sp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584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Why bundle transactions together?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Single unit of work for miners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Limit length of hash-chain of blocks</a:t>
            </a:r>
          </a:p>
          <a:p>
            <a:pPr marL="1828800" lvl="1" indent="-228600" rtl="0">
              <a:spcBef>
                <a:spcPts val="0"/>
              </a:spcBef>
            </a:pPr>
            <a:r>
              <a:rPr lang="en"/>
              <a:t>Faster to verify history</a:t>
            </a:r>
          </a:p>
        </p:txBody>
      </p:sp>
    </p:spTree>
    <p:extLst>
      <p:ext uri="{BB962C8B-B14F-4D97-AF65-F5344CB8AC3E}">
        <p14:creationId xmlns:p14="http://schemas.microsoft.com/office/powerpoint/2010/main" val="1345584365"/>
      </p:ext>
    </p:extLst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Shape 399"/>
          <p:cNvGrpSpPr/>
          <p:nvPr/>
        </p:nvGrpSpPr>
        <p:grpSpPr>
          <a:xfrm>
            <a:off x="3891475" y="1671700"/>
            <a:ext cx="1344300" cy="701999"/>
            <a:chOff x="5333050" y="2139900"/>
            <a:chExt cx="1344300" cy="701999"/>
          </a:xfrm>
        </p:grpSpPr>
        <p:sp>
          <p:nvSpPr>
            <p:cNvPr id="400" name="Shape 400"/>
            <p:cNvSpPr/>
            <p:nvPr/>
          </p:nvSpPr>
          <p:spPr>
            <a:xfrm>
              <a:off x="5333050" y="2462100"/>
              <a:ext cx="1344300" cy="379799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sz="1800">
                  <a:latin typeface="Trebuchet MS"/>
                  <a:ea typeface="Trebuchet MS"/>
                  <a:cs typeface="Trebuchet MS"/>
                  <a:sym typeface="Trebuchet MS"/>
                </a:rPr>
                <a:t>trans: H(  )</a:t>
              </a:r>
            </a:p>
          </p:txBody>
        </p:sp>
        <p:sp>
          <p:nvSpPr>
            <p:cNvPr id="401" name="Shape 401"/>
            <p:cNvSpPr/>
            <p:nvPr/>
          </p:nvSpPr>
          <p:spPr>
            <a:xfrm>
              <a:off x="5333050" y="2139900"/>
              <a:ext cx="1344300" cy="322200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sz="1800">
                  <a:latin typeface="Trebuchet MS"/>
                  <a:ea typeface="Trebuchet MS"/>
                  <a:cs typeface="Trebuchet MS"/>
                  <a:sym typeface="Trebuchet MS"/>
                </a:rPr>
                <a:t>prev: H(  )</a:t>
              </a:r>
            </a:p>
          </p:txBody>
        </p:sp>
      </p:grpSp>
      <p:sp>
        <p:nvSpPr>
          <p:cNvPr id="402" name="Shape 402"/>
          <p:cNvSpPr txBox="1">
            <a:spLocks noGrp="1"/>
          </p:cNvSpPr>
          <p:nvPr>
            <p:ph type="title"/>
          </p:nvPr>
        </p:nvSpPr>
        <p:spPr>
          <a:xfrm>
            <a:off x="457200" y="403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Bitcoin block structure</a:t>
            </a:r>
          </a:p>
        </p:txBody>
      </p:sp>
      <p:sp>
        <p:nvSpPr>
          <p:cNvPr id="403" name="Shape 403"/>
          <p:cNvSpPr/>
          <p:nvPr/>
        </p:nvSpPr>
        <p:spPr>
          <a:xfrm>
            <a:off x="2902675" y="1521227"/>
            <a:ext cx="2066550" cy="542891"/>
          </a:xfrm>
          <a:custGeom>
            <a:avLst/>
            <a:gdLst/>
            <a:ahLst/>
            <a:cxnLst/>
            <a:rect l="0" t="0" r="0" b="0"/>
            <a:pathLst>
              <a:path w="82662" h="55553" extrusionOk="0">
                <a:moveTo>
                  <a:pt x="82662" y="16888"/>
                </a:moveTo>
                <a:lnTo>
                  <a:pt x="82662" y="445"/>
                </a:lnTo>
                <a:lnTo>
                  <a:pt x="19554" y="0"/>
                </a:lnTo>
                <a:lnTo>
                  <a:pt x="19999" y="55553"/>
                </a:lnTo>
                <a:lnTo>
                  <a:pt x="0" y="55109"/>
                </a:lnTo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lg" len="lg"/>
            <a:tailEnd type="stealth" w="lg" len="lg"/>
          </a:ln>
        </p:spPr>
      </p:sp>
      <p:grpSp>
        <p:nvGrpSpPr>
          <p:cNvPr id="404" name="Shape 404"/>
          <p:cNvGrpSpPr/>
          <p:nvPr/>
        </p:nvGrpSpPr>
        <p:grpSpPr>
          <a:xfrm>
            <a:off x="1558375" y="1720925"/>
            <a:ext cx="1344300" cy="701999"/>
            <a:chOff x="5333050" y="2139900"/>
            <a:chExt cx="1344300" cy="701999"/>
          </a:xfrm>
        </p:grpSpPr>
        <p:sp>
          <p:nvSpPr>
            <p:cNvPr id="405" name="Shape 405"/>
            <p:cNvSpPr/>
            <p:nvPr/>
          </p:nvSpPr>
          <p:spPr>
            <a:xfrm>
              <a:off x="5333050" y="2462100"/>
              <a:ext cx="1344300" cy="379799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sz="1800">
                  <a:latin typeface="Trebuchet MS"/>
                  <a:ea typeface="Trebuchet MS"/>
                  <a:cs typeface="Trebuchet MS"/>
                  <a:sym typeface="Trebuchet MS"/>
                </a:rPr>
                <a:t>trans: H(  )</a:t>
              </a:r>
            </a:p>
          </p:txBody>
        </p:sp>
        <p:sp>
          <p:nvSpPr>
            <p:cNvPr id="406" name="Shape 406"/>
            <p:cNvSpPr/>
            <p:nvPr/>
          </p:nvSpPr>
          <p:spPr>
            <a:xfrm>
              <a:off x="5333050" y="2139900"/>
              <a:ext cx="1344300" cy="322200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sz="1800">
                  <a:latin typeface="Trebuchet MS"/>
                  <a:ea typeface="Trebuchet MS"/>
                  <a:cs typeface="Trebuchet MS"/>
                  <a:sym typeface="Trebuchet MS"/>
                </a:rPr>
                <a:t>prev: H(  )</a:t>
              </a:r>
            </a:p>
          </p:txBody>
        </p:sp>
      </p:grpSp>
      <p:sp>
        <p:nvSpPr>
          <p:cNvPr id="407" name="Shape 407"/>
          <p:cNvSpPr/>
          <p:nvPr/>
        </p:nvSpPr>
        <p:spPr>
          <a:xfrm>
            <a:off x="550650" y="1558052"/>
            <a:ext cx="2066550" cy="542891"/>
          </a:xfrm>
          <a:custGeom>
            <a:avLst/>
            <a:gdLst/>
            <a:ahLst/>
            <a:cxnLst/>
            <a:rect l="0" t="0" r="0" b="0"/>
            <a:pathLst>
              <a:path w="82662" h="55553" extrusionOk="0">
                <a:moveTo>
                  <a:pt x="82662" y="16888"/>
                </a:moveTo>
                <a:lnTo>
                  <a:pt x="82662" y="445"/>
                </a:lnTo>
                <a:lnTo>
                  <a:pt x="19554" y="0"/>
                </a:lnTo>
                <a:lnTo>
                  <a:pt x="19999" y="55553"/>
                </a:lnTo>
                <a:lnTo>
                  <a:pt x="0" y="55109"/>
                </a:lnTo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lg" len="lg"/>
            <a:tailEnd type="stealth" w="lg" len="lg"/>
          </a:ln>
        </p:spPr>
      </p:sp>
      <p:grpSp>
        <p:nvGrpSpPr>
          <p:cNvPr id="408" name="Shape 408"/>
          <p:cNvGrpSpPr/>
          <p:nvPr/>
        </p:nvGrpSpPr>
        <p:grpSpPr>
          <a:xfrm>
            <a:off x="6243500" y="1671700"/>
            <a:ext cx="1344300" cy="701999"/>
            <a:chOff x="5333050" y="2139900"/>
            <a:chExt cx="1344300" cy="701999"/>
          </a:xfrm>
        </p:grpSpPr>
        <p:sp>
          <p:nvSpPr>
            <p:cNvPr id="409" name="Shape 409"/>
            <p:cNvSpPr/>
            <p:nvPr/>
          </p:nvSpPr>
          <p:spPr>
            <a:xfrm>
              <a:off x="5333050" y="2462100"/>
              <a:ext cx="1344300" cy="379799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sz="1800">
                  <a:latin typeface="Trebuchet MS"/>
                  <a:ea typeface="Trebuchet MS"/>
                  <a:cs typeface="Trebuchet MS"/>
                  <a:sym typeface="Trebuchet MS"/>
                </a:rPr>
                <a:t>trans: H(  )</a:t>
              </a:r>
            </a:p>
          </p:txBody>
        </p:sp>
        <p:sp>
          <p:nvSpPr>
            <p:cNvPr id="410" name="Shape 410"/>
            <p:cNvSpPr/>
            <p:nvPr/>
          </p:nvSpPr>
          <p:spPr>
            <a:xfrm>
              <a:off x="5333050" y="2139900"/>
              <a:ext cx="1344300" cy="322200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sz="1800">
                  <a:latin typeface="Trebuchet MS"/>
                  <a:ea typeface="Trebuchet MS"/>
                  <a:cs typeface="Trebuchet MS"/>
                  <a:sym typeface="Trebuchet MS"/>
                </a:rPr>
                <a:t>prev: H(  )</a:t>
              </a:r>
            </a:p>
          </p:txBody>
        </p:sp>
      </p:grpSp>
      <p:sp>
        <p:nvSpPr>
          <p:cNvPr id="411" name="Shape 411"/>
          <p:cNvSpPr/>
          <p:nvPr/>
        </p:nvSpPr>
        <p:spPr>
          <a:xfrm>
            <a:off x="5254700" y="1521227"/>
            <a:ext cx="2066550" cy="542891"/>
          </a:xfrm>
          <a:custGeom>
            <a:avLst/>
            <a:gdLst/>
            <a:ahLst/>
            <a:cxnLst/>
            <a:rect l="0" t="0" r="0" b="0"/>
            <a:pathLst>
              <a:path w="82662" h="55553" extrusionOk="0">
                <a:moveTo>
                  <a:pt x="82662" y="16888"/>
                </a:moveTo>
                <a:lnTo>
                  <a:pt x="82662" y="445"/>
                </a:lnTo>
                <a:lnTo>
                  <a:pt x="19554" y="0"/>
                </a:lnTo>
                <a:lnTo>
                  <a:pt x="19999" y="55553"/>
                </a:lnTo>
                <a:lnTo>
                  <a:pt x="0" y="55109"/>
                </a:lnTo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lg" len="lg"/>
            <a:tailEnd type="stealth" w="lg" len="lg"/>
          </a:ln>
        </p:spPr>
      </p:sp>
      <p:sp>
        <p:nvSpPr>
          <p:cNvPr id="412" name="Shape 412"/>
          <p:cNvSpPr txBox="1"/>
          <p:nvPr/>
        </p:nvSpPr>
        <p:spPr>
          <a:xfrm>
            <a:off x="4332300" y="2858737"/>
            <a:ext cx="1344300" cy="457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H(  )   H(  )</a:t>
            </a:r>
          </a:p>
        </p:txBody>
      </p:sp>
      <p:sp>
        <p:nvSpPr>
          <p:cNvPr id="413" name="Shape 413"/>
          <p:cNvSpPr txBox="1"/>
          <p:nvPr/>
        </p:nvSpPr>
        <p:spPr>
          <a:xfrm>
            <a:off x="3480400" y="3715875"/>
            <a:ext cx="1344300" cy="457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H(  )   H(  )</a:t>
            </a:r>
          </a:p>
        </p:txBody>
      </p:sp>
      <p:sp>
        <p:nvSpPr>
          <p:cNvPr id="414" name="Shape 414"/>
          <p:cNvSpPr txBox="1"/>
          <p:nvPr/>
        </p:nvSpPr>
        <p:spPr>
          <a:xfrm>
            <a:off x="5445800" y="3715875"/>
            <a:ext cx="1344300" cy="4572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H(  )   H(  )</a:t>
            </a:r>
          </a:p>
        </p:txBody>
      </p:sp>
      <p:sp>
        <p:nvSpPr>
          <p:cNvPr id="415" name="Shape 415"/>
          <p:cNvSpPr/>
          <p:nvPr/>
        </p:nvSpPr>
        <p:spPr>
          <a:xfrm>
            <a:off x="4111475" y="3093675"/>
            <a:ext cx="638366" cy="622200"/>
          </a:xfrm>
          <a:custGeom>
            <a:avLst/>
            <a:gdLst/>
            <a:ahLst/>
            <a:cxnLst/>
            <a:rect l="0" t="0" r="0" b="0"/>
            <a:pathLst>
              <a:path w="62219" h="24888" extrusionOk="0">
                <a:moveTo>
                  <a:pt x="62219" y="0"/>
                </a:moveTo>
                <a:lnTo>
                  <a:pt x="62219" y="17333"/>
                </a:lnTo>
                <a:lnTo>
                  <a:pt x="0" y="17333"/>
                </a:lnTo>
                <a:lnTo>
                  <a:pt x="0" y="24888"/>
                </a:lnTo>
              </a:path>
            </a:pathLst>
          </a:custGeom>
          <a:noFill/>
          <a:ln w="19050" cap="flat" cmpd="sng">
            <a:solidFill>
              <a:srgbClr val="990000"/>
            </a:solidFill>
            <a:prstDash val="solid"/>
            <a:round/>
            <a:headEnd type="none" w="lg" len="lg"/>
            <a:tailEnd type="stealth" w="lg" len="lg"/>
          </a:ln>
        </p:spPr>
      </p:sp>
      <p:sp>
        <p:nvSpPr>
          <p:cNvPr id="416" name="Shape 416"/>
          <p:cNvSpPr/>
          <p:nvPr/>
        </p:nvSpPr>
        <p:spPr>
          <a:xfrm flipH="1">
            <a:off x="5363556" y="3093675"/>
            <a:ext cx="766538" cy="622200"/>
          </a:xfrm>
          <a:custGeom>
            <a:avLst/>
            <a:gdLst/>
            <a:ahLst/>
            <a:cxnLst/>
            <a:rect l="0" t="0" r="0" b="0"/>
            <a:pathLst>
              <a:path w="62219" h="24888" extrusionOk="0">
                <a:moveTo>
                  <a:pt x="62219" y="0"/>
                </a:moveTo>
                <a:lnTo>
                  <a:pt x="62219" y="17333"/>
                </a:lnTo>
                <a:lnTo>
                  <a:pt x="0" y="17333"/>
                </a:lnTo>
                <a:lnTo>
                  <a:pt x="0" y="24888"/>
                </a:lnTo>
              </a:path>
            </a:pathLst>
          </a:custGeom>
          <a:noFill/>
          <a:ln w="19050" cap="flat" cmpd="sng">
            <a:solidFill>
              <a:srgbClr val="990000"/>
            </a:solidFill>
            <a:prstDash val="solid"/>
            <a:round/>
            <a:headEnd type="none" w="lg" len="lg"/>
            <a:tailEnd type="stealth" w="lg" len="lg"/>
          </a:ln>
        </p:spPr>
      </p:sp>
      <p:cxnSp>
        <p:nvCxnSpPr>
          <p:cNvPr id="417" name="Shape 417"/>
          <p:cNvCxnSpPr/>
          <p:nvPr/>
        </p:nvCxnSpPr>
        <p:spPr>
          <a:xfrm flipH="1">
            <a:off x="4980474" y="2272537"/>
            <a:ext cx="44400" cy="586199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8" name="Shape 418"/>
          <p:cNvCxnSpPr>
            <a:endCxn id="419" idx="0"/>
          </p:cNvCxnSpPr>
          <p:nvPr/>
        </p:nvCxnSpPr>
        <p:spPr>
          <a:xfrm flipH="1">
            <a:off x="3237100" y="4008075"/>
            <a:ext cx="670500" cy="6837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0" name="Shape 420"/>
          <p:cNvCxnSpPr>
            <a:endCxn id="421" idx="0"/>
          </p:cNvCxnSpPr>
          <p:nvPr/>
        </p:nvCxnSpPr>
        <p:spPr>
          <a:xfrm>
            <a:off x="4546825" y="3972675"/>
            <a:ext cx="16800" cy="7191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9" name="Shape 419"/>
          <p:cNvSpPr txBox="1"/>
          <p:nvPr/>
        </p:nvSpPr>
        <p:spPr>
          <a:xfrm>
            <a:off x="2708950" y="4691775"/>
            <a:ext cx="1056300" cy="301799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1200"/>
              <a:t>transaction</a:t>
            </a:r>
          </a:p>
        </p:txBody>
      </p:sp>
      <p:sp>
        <p:nvSpPr>
          <p:cNvPr id="421" name="Shape 421"/>
          <p:cNvSpPr txBox="1"/>
          <p:nvPr/>
        </p:nvSpPr>
        <p:spPr>
          <a:xfrm>
            <a:off x="4035475" y="4691775"/>
            <a:ext cx="1056300" cy="301799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"/>
              <a:t>transaction</a:t>
            </a:r>
          </a:p>
        </p:txBody>
      </p:sp>
      <p:cxnSp>
        <p:nvCxnSpPr>
          <p:cNvPr id="422" name="Shape 422"/>
          <p:cNvCxnSpPr>
            <a:endCxn id="423" idx="0"/>
          </p:cNvCxnSpPr>
          <p:nvPr/>
        </p:nvCxnSpPr>
        <p:spPr>
          <a:xfrm flipH="1">
            <a:off x="5890150" y="3959475"/>
            <a:ext cx="13500" cy="7323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4" name="Shape 424"/>
          <p:cNvCxnSpPr>
            <a:endCxn id="425" idx="0"/>
          </p:cNvCxnSpPr>
          <p:nvPr/>
        </p:nvCxnSpPr>
        <p:spPr>
          <a:xfrm>
            <a:off x="6525050" y="3986175"/>
            <a:ext cx="793200" cy="7056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3" name="Shape 423"/>
          <p:cNvSpPr txBox="1"/>
          <p:nvPr/>
        </p:nvSpPr>
        <p:spPr>
          <a:xfrm>
            <a:off x="5362000" y="4691775"/>
            <a:ext cx="1056300" cy="301799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"/>
              <a:t>transaction</a:t>
            </a:r>
          </a:p>
        </p:txBody>
      </p:sp>
      <p:sp>
        <p:nvSpPr>
          <p:cNvPr id="425" name="Shape 425"/>
          <p:cNvSpPr txBox="1"/>
          <p:nvPr/>
        </p:nvSpPr>
        <p:spPr>
          <a:xfrm>
            <a:off x="6790100" y="4691775"/>
            <a:ext cx="1056300" cy="301799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"/>
              <a:t>transaction</a:t>
            </a:r>
          </a:p>
        </p:txBody>
      </p:sp>
      <p:sp>
        <p:nvSpPr>
          <p:cNvPr id="426" name="Shape 426"/>
          <p:cNvSpPr/>
          <p:nvPr/>
        </p:nvSpPr>
        <p:spPr>
          <a:xfrm>
            <a:off x="284075" y="1260625"/>
            <a:ext cx="7785600" cy="131399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7" name="Shape 427"/>
          <p:cNvSpPr/>
          <p:nvPr/>
        </p:nvSpPr>
        <p:spPr>
          <a:xfrm>
            <a:off x="2521250" y="2761225"/>
            <a:ext cx="5548499" cy="2325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8" name="Shape 428"/>
          <p:cNvSpPr txBox="1"/>
          <p:nvPr/>
        </p:nvSpPr>
        <p:spPr>
          <a:xfrm>
            <a:off x="1225125" y="834500"/>
            <a:ext cx="2255400" cy="35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Hash chain of blocks</a:t>
            </a:r>
          </a:p>
        </p:txBody>
      </p:sp>
      <p:sp>
        <p:nvSpPr>
          <p:cNvPr id="429" name="Shape 429"/>
          <p:cNvSpPr txBox="1"/>
          <p:nvPr/>
        </p:nvSpPr>
        <p:spPr>
          <a:xfrm>
            <a:off x="168675" y="3463775"/>
            <a:ext cx="2352600" cy="35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Hash tree (Merkle tree) of transactions in each block</a:t>
            </a:r>
          </a:p>
        </p:txBody>
      </p:sp>
    </p:spTree>
    <p:extLst>
      <p:ext uri="{BB962C8B-B14F-4D97-AF65-F5344CB8AC3E}">
        <p14:creationId xmlns:p14="http://schemas.microsoft.com/office/powerpoint/2010/main" val="324799236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The real deal: a Bitcoin block</a:t>
            </a:r>
          </a:p>
        </p:txBody>
      </p:sp>
      <p:sp>
        <p:nvSpPr>
          <p:cNvPr id="435" name="Shape 435"/>
          <p:cNvSpPr txBox="1">
            <a:spLocks noGrp="1"/>
          </p:cNvSpPr>
          <p:nvPr>
            <p:ph type="body" idx="1"/>
          </p:nvPr>
        </p:nvSpPr>
        <p:spPr>
          <a:xfrm>
            <a:off x="2187725" y="726950"/>
            <a:ext cx="8229600" cy="41219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000"/>
              <a:t>{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"hash":"00000000000000001aad2...",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"ver":2,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"prev_block":"00000000000000003043...",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"time":1391279636,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"bits":419558700,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"nonce":459459841,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"mrkl_root":"89776...",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"n_tx":354,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"size":181520,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"tx":[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  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],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"mrkl_tree":[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  "6bd5eb25...",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  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  "89776cdb..."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  ]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000"/>
              <a:t>}</a:t>
            </a:r>
          </a:p>
        </p:txBody>
      </p:sp>
      <p:sp>
        <p:nvSpPr>
          <p:cNvPr id="436" name="Shape 436"/>
          <p:cNvSpPr/>
          <p:nvPr/>
        </p:nvSpPr>
        <p:spPr>
          <a:xfrm>
            <a:off x="1763800" y="1159325"/>
            <a:ext cx="276000" cy="12555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7" name="Shape 437"/>
          <p:cNvSpPr/>
          <p:nvPr/>
        </p:nvSpPr>
        <p:spPr>
          <a:xfrm>
            <a:off x="1763800" y="2510775"/>
            <a:ext cx="276000" cy="2400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8" name="Shape 438"/>
          <p:cNvSpPr txBox="1"/>
          <p:nvPr/>
        </p:nvSpPr>
        <p:spPr>
          <a:xfrm>
            <a:off x="280575" y="3520075"/>
            <a:ext cx="1335300" cy="52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transaction data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333975" y="1613025"/>
            <a:ext cx="1281900" cy="67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block header</a:t>
            </a:r>
          </a:p>
        </p:txBody>
      </p:sp>
    </p:spTree>
    <p:extLst>
      <p:ext uri="{BB962C8B-B14F-4D97-AF65-F5344CB8AC3E}">
        <p14:creationId xmlns:p14="http://schemas.microsoft.com/office/powerpoint/2010/main" val="3983045820"/>
      </p:ext>
    </p:extLst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The real deal: a Bitcoin block header</a:t>
            </a:r>
          </a:p>
        </p:txBody>
      </p:sp>
      <p:sp>
        <p:nvSpPr>
          <p:cNvPr id="445" name="Shape 445"/>
          <p:cNvSpPr txBox="1">
            <a:spLocks noGrp="1"/>
          </p:cNvSpPr>
          <p:nvPr>
            <p:ph type="body" idx="1"/>
          </p:nvPr>
        </p:nvSpPr>
        <p:spPr>
          <a:xfrm>
            <a:off x="2187725" y="1021500"/>
            <a:ext cx="8229600" cy="41219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{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"hash":"00000000000000001aad2...",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"ver":2,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"prev_block":"00000000000000003043...",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"time":1391279636,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"bits":419558700,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"nonce":459459841,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"mrkl_root":"89776...",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  ...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}</a:t>
            </a:r>
          </a:p>
        </p:txBody>
      </p:sp>
      <p:sp>
        <p:nvSpPr>
          <p:cNvPr id="446" name="Shape 446"/>
          <p:cNvSpPr txBox="1"/>
          <p:nvPr/>
        </p:nvSpPr>
        <p:spPr>
          <a:xfrm>
            <a:off x="298450" y="2143050"/>
            <a:ext cx="12819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mining puzzle information</a:t>
            </a:r>
          </a:p>
        </p:txBody>
      </p:sp>
      <p:cxnSp>
        <p:nvCxnSpPr>
          <p:cNvPr id="447" name="Shape 447"/>
          <p:cNvCxnSpPr/>
          <p:nvPr/>
        </p:nvCxnSpPr>
        <p:spPr>
          <a:xfrm rot="10800000" flipH="1">
            <a:off x="1207375" y="1810975"/>
            <a:ext cx="1056300" cy="5060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48" name="Shape 448"/>
          <p:cNvCxnSpPr>
            <a:endCxn id="445" idx="1"/>
          </p:cNvCxnSpPr>
          <p:nvPr/>
        </p:nvCxnSpPr>
        <p:spPr>
          <a:xfrm>
            <a:off x="1322824" y="2556899"/>
            <a:ext cx="864900" cy="52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49" name="Shape 449"/>
          <p:cNvCxnSpPr/>
          <p:nvPr/>
        </p:nvCxnSpPr>
        <p:spPr>
          <a:xfrm>
            <a:off x="1322775" y="2831975"/>
            <a:ext cx="985500" cy="5591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50" name="Shape 450"/>
          <p:cNvSpPr/>
          <p:nvPr/>
        </p:nvSpPr>
        <p:spPr>
          <a:xfrm>
            <a:off x="6755900" y="1615725"/>
            <a:ext cx="417300" cy="22815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1" name="Shape 451"/>
          <p:cNvSpPr txBox="1"/>
          <p:nvPr/>
        </p:nvSpPr>
        <p:spPr>
          <a:xfrm>
            <a:off x="7277775" y="2224975"/>
            <a:ext cx="12819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hashed during mining</a:t>
            </a:r>
          </a:p>
        </p:txBody>
      </p:sp>
      <p:sp>
        <p:nvSpPr>
          <p:cNvPr id="452" name="Shape 452"/>
          <p:cNvSpPr txBox="1"/>
          <p:nvPr/>
        </p:nvSpPr>
        <p:spPr>
          <a:xfrm>
            <a:off x="7277775" y="3950550"/>
            <a:ext cx="12819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not hashed</a:t>
            </a:r>
          </a:p>
        </p:txBody>
      </p:sp>
      <p:sp>
        <p:nvSpPr>
          <p:cNvPr id="453" name="Shape 453"/>
          <p:cNvSpPr/>
          <p:nvPr/>
        </p:nvSpPr>
        <p:spPr>
          <a:xfrm>
            <a:off x="6755900" y="3950550"/>
            <a:ext cx="417300" cy="3996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516801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The real deal: coinbase transaction</a:t>
            </a:r>
          </a:p>
        </p:txBody>
      </p:sp>
      <p:sp>
        <p:nvSpPr>
          <p:cNvPr id="459" name="Shape 459"/>
          <p:cNvSpPr txBox="1">
            <a:spLocks noGrp="1"/>
          </p:cNvSpPr>
          <p:nvPr>
            <p:ph type="body" idx="1"/>
          </p:nvPr>
        </p:nvSpPr>
        <p:spPr>
          <a:xfrm>
            <a:off x="1976075" y="784550"/>
            <a:ext cx="6480600" cy="4497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/>
              <a:t>      "in":[</a:t>
            </a:r>
            <a:br>
              <a:rPr lang="en" sz="2000"/>
            </a:br>
            <a:r>
              <a:rPr lang="en" sz="2000"/>
              <a:t>        {</a:t>
            </a:r>
            <a:br>
              <a:rPr lang="en" sz="2000"/>
            </a:br>
            <a:r>
              <a:rPr lang="en" sz="2000"/>
              <a:t>          "prev_out":{</a:t>
            </a:r>
            <a:br>
              <a:rPr lang="en" sz="2000"/>
            </a:br>
            <a:r>
              <a:rPr lang="en" sz="2000"/>
              <a:t>            "hash":"000000.....0000000",</a:t>
            </a:r>
            <a:br>
              <a:rPr lang="en" sz="2000"/>
            </a:br>
            <a:r>
              <a:rPr lang="en" sz="2000"/>
              <a:t>            "n":4294967295</a:t>
            </a:r>
            <a:br>
              <a:rPr lang="en" sz="2000"/>
            </a:br>
            <a:r>
              <a:rPr lang="en" sz="2000"/>
              <a:t>          }, 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" sz="2000"/>
              <a:t>"coinbase":"..."</a:t>
            </a:r>
            <a:br>
              <a:rPr lang="en" sz="2000"/>
            </a:br>
            <a:r>
              <a:rPr lang="en" sz="2000"/>
              <a:t>        },</a:t>
            </a:r>
            <a:br>
              <a:rPr lang="en" sz="2000"/>
            </a:br>
            <a:r>
              <a:rPr lang="en" sz="2000"/>
              <a:t>       "out":[</a:t>
            </a:r>
            <a:br>
              <a:rPr lang="en" sz="2000"/>
            </a:br>
            <a:r>
              <a:rPr lang="en" sz="2000"/>
              <a:t>    {</a:t>
            </a:r>
            <a:br>
              <a:rPr lang="en" sz="2000"/>
            </a:br>
            <a:r>
              <a:rPr lang="en" sz="2000"/>
              <a:t>      "value":"25.03371419",</a:t>
            </a:r>
            <a:br>
              <a:rPr lang="en" sz="2000"/>
            </a:br>
            <a:r>
              <a:rPr lang="en" sz="2000"/>
              <a:t>      "scriptPubKey":"OPDUP OPHASH160 ... ”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" sz="2000"/>
              <a:t>}</a:t>
            </a:r>
          </a:p>
        </p:txBody>
      </p:sp>
      <p:sp>
        <p:nvSpPr>
          <p:cNvPr id="460" name="Shape 460"/>
          <p:cNvSpPr/>
          <p:nvPr/>
        </p:nvSpPr>
        <p:spPr>
          <a:xfrm>
            <a:off x="1867300" y="1889175"/>
            <a:ext cx="234599" cy="2565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1" name="Shape 461"/>
          <p:cNvSpPr/>
          <p:nvPr/>
        </p:nvSpPr>
        <p:spPr>
          <a:xfrm>
            <a:off x="1867300" y="2211400"/>
            <a:ext cx="234599" cy="12698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2" name="Shape 462"/>
          <p:cNvSpPr txBox="1"/>
          <p:nvPr/>
        </p:nvSpPr>
        <p:spPr>
          <a:xfrm>
            <a:off x="280550" y="2634700"/>
            <a:ext cx="1173299" cy="42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arbitrary</a:t>
            </a:r>
          </a:p>
        </p:txBody>
      </p:sp>
      <p:sp>
        <p:nvSpPr>
          <p:cNvPr id="463" name="Shape 463"/>
          <p:cNvSpPr txBox="1"/>
          <p:nvPr/>
        </p:nvSpPr>
        <p:spPr>
          <a:xfrm>
            <a:off x="280550" y="1792325"/>
            <a:ext cx="1329599" cy="57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redeeming nothing</a:t>
            </a:r>
          </a:p>
        </p:txBody>
      </p:sp>
      <p:sp>
        <p:nvSpPr>
          <p:cNvPr id="464" name="Shape 464"/>
          <p:cNvSpPr/>
          <p:nvPr/>
        </p:nvSpPr>
        <p:spPr>
          <a:xfrm>
            <a:off x="4962600" y="1425725"/>
            <a:ext cx="1647000" cy="366599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6D9EE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Null hash pointer</a:t>
            </a:r>
          </a:p>
        </p:txBody>
      </p:sp>
      <p:sp>
        <p:nvSpPr>
          <p:cNvPr id="465" name="Shape 465"/>
          <p:cNvSpPr/>
          <p:nvPr/>
        </p:nvSpPr>
        <p:spPr>
          <a:xfrm>
            <a:off x="4488275" y="2451400"/>
            <a:ext cx="4012799" cy="1029900"/>
          </a:xfrm>
          <a:prstGeom prst="wedgeRectCallout">
            <a:avLst>
              <a:gd name="adj1" fmla="val -55215"/>
              <a:gd name="adj2" fmla="val -2704"/>
            </a:avLst>
          </a:prstGeom>
          <a:solidFill>
            <a:srgbClr val="EAD1DC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First ever coinbase parameter:</a:t>
            </a:r>
          </a:p>
          <a:p>
            <a:pPr lvl="0">
              <a:spcBef>
                <a:spcPts val="0"/>
              </a:spcBef>
              <a:buNone/>
            </a:pPr>
            <a:r>
              <a:rPr lang="en" sz="1800"/>
              <a:t>“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Times 03/Jan/2009 Chancellor on brink of second bailout for banks”</a:t>
            </a:r>
          </a:p>
        </p:txBody>
      </p:sp>
      <p:sp>
        <p:nvSpPr>
          <p:cNvPr id="466" name="Shape 466"/>
          <p:cNvSpPr/>
          <p:nvPr/>
        </p:nvSpPr>
        <p:spPr>
          <a:xfrm rot="5400000">
            <a:off x="3305274" y="3692674"/>
            <a:ext cx="591600" cy="2196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7" name="Shape 467"/>
          <p:cNvSpPr/>
          <p:nvPr/>
        </p:nvSpPr>
        <p:spPr>
          <a:xfrm rot="5400000">
            <a:off x="4265725" y="3445650"/>
            <a:ext cx="234599" cy="1070399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8" name="Shape 468"/>
          <p:cNvSpPr txBox="1"/>
          <p:nvPr/>
        </p:nvSpPr>
        <p:spPr>
          <a:xfrm>
            <a:off x="3344800" y="3163375"/>
            <a:ext cx="1329599" cy="431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block reward</a:t>
            </a:r>
          </a:p>
        </p:txBody>
      </p:sp>
      <p:sp>
        <p:nvSpPr>
          <p:cNvPr id="469" name="Shape 469"/>
          <p:cNvSpPr txBox="1"/>
          <p:nvPr/>
        </p:nvSpPr>
        <p:spPr>
          <a:xfrm>
            <a:off x="3776800" y="3595075"/>
            <a:ext cx="2064599" cy="57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transaction fees</a:t>
            </a:r>
          </a:p>
        </p:txBody>
      </p:sp>
    </p:spTree>
    <p:extLst>
      <p:ext uri="{BB962C8B-B14F-4D97-AF65-F5344CB8AC3E}">
        <p14:creationId xmlns:p14="http://schemas.microsoft.com/office/powerpoint/2010/main" val="213821520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47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See for yourself!</a:t>
            </a:r>
          </a:p>
        </p:txBody>
      </p:sp>
      <p:pic>
        <p:nvPicPr>
          <p:cNvPr id="475" name="Shape 4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87" y="1063375"/>
            <a:ext cx="8658024" cy="3434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Shape 476"/>
          <p:cNvSpPr txBox="1"/>
          <p:nvPr/>
        </p:nvSpPr>
        <p:spPr>
          <a:xfrm>
            <a:off x="892525" y="4628225"/>
            <a:ext cx="7186200" cy="358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000"/>
              <a:t>blockchain.info (and many other sites)</a:t>
            </a:r>
          </a:p>
        </p:txBody>
      </p:sp>
    </p:spTree>
    <p:extLst>
      <p:ext uri="{BB962C8B-B14F-4D97-AF65-F5344CB8AC3E}">
        <p14:creationId xmlns:p14="http://schemas.microsoft.com/office/powerpoint/2010/main" val="2819478136"/>
      </p:ext>
    </p:extLst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481"/>
          <p:cNvSpPr txBox="1">
            <a:spLocks noGrp="1"/>
          </p:cNvSpPr>
          <p:nvPr>
            <p:ph type="subTitle" idx="1"/>
          </p:nvPr>
        </p:nvSpPr>
        <p:spPr>
          <a:xfrm>
            <a:off x="685800" y="1690471"/>
            <a:ext cx="7772400" cy="1723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endParaRPr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r>
              <a:rPr lang="en-US" dirty="0"/>
              <a:t>3.5: </a:t>
            </a:r>
            <a:r>
              <a:rPr lang="en" dirty="0"/>
              <a:t>The Bitcoin network</a:t>
            </a:r>
          </a:p>
        </p:txBody>
      </p:sp>
    </p:spTree>
    <p:extLst>
      <p:ext uri="{BB962C8B-B14F-4D97-AF65-F5344CB8AC3E}">
        <p14:creationId xmlns:p14="http://schemas.microsoft.com/office/powerpoint/2010/main" val="1139806897"/>
      </p:ext>
    </p:extLst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Bitcoin P2P network</a:t>
            </a:r>
          </a:p>
        </p:txBody>
      </p:sp>
      <p:sp>
        <p:nvSpPr>
          <p:cNvPr id="487" name="Shape 48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142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914400" lvl="0" indent="-228600" rtl="0">
              <a:spcBef>
                <a:spcPts val="0"/>
              </a:spcBef>
            </a:pPr>
            <a:r>
              <a:rPr lang="en"/>
              <a:t>Ad-hoc protocol (runs on TCP port 8333)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Ad-hoc network with random topology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All nodes are equal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New nodes can join at any time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Forget non-responding nodes after 3 hr</a:t>
            </a:r>
          </a:p>
        </p:txBody>
      </p:sp>
    </p:spTree>
    <p:extLst>
      <p:ext uri="{BB962C8B-B14F-4D97-AF65-F5344CB8AC3E}">
        <p14:creationId xmlns:p14="http://schemas.microsoft.com/office/powerpoint/2010/main" val="1876659655"/>
      </p:ext>
    </p:extLst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Joining the Bitcoin P2P network</a:t>
            </a:r>
          </a:p>
        </p:txBody>
      </p:sp>
      <p:sp>
        <p:nvSpPr>
          <p:cNvPr id="493" name="Shape 493"/>
          <p:cNvSpPr/>
          <p:nvPr/>
        </p:nvSpPr>
        <p:spPr>
          <a:xfrm>
            <a:off x="1509000" y="131577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1</a:t>
            </a:r>
          </a:p>
        </p:txBody>
      </p:sp>
      <p:sp>
        <p:nvSpPr>
          <p:cNvPr id="494" name="Shape 494"/>
          <p:cNvSpPr/>
          <p:nvPr/>
        </p:nvSpPr>
        <p:spPr>
          <a:xfrm>
            <a:off x="856875" y="320317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6</a:t>
            </a:r>
          </a:p>
        </p:txBody>
      </p:sp>
      <p:sp>
        <p:nvSpPr>
          <p:cNvPr id="495" name="Shape 495"/>
          <p:cNvSpPr/>
          <p:nvPr/>
        </p:nvSpPr>
        <p:spPr>
          <a:xfrm>
            <a:off x="2871375" y="414930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4</a:t>
            </a:r>
          </a:p>
        </p:txBody>
      </p:sp>
      <p:sp>
        <p:nvSpPr>
          <p:cNvPr id="496" name="Shape 496"/>
          <p:cNvSpPr/>
          <p:nvPr/>
        </p:nvSpPr>
        <p:spPr>
          <a:xfrm>
            <a:off x="6553600" y="180575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7</a:t>
            </a:r>
          </a:p>
        </p:txBody>
      </p:sp>
      <p:sp>
        <p:nvSpPr>
          <p:cNvPr id="497" name="Shape 497"/>
          <p:cNvSpPr/>
          <p:nvPr/>
        </p:nvSpPr>
        <p:spPr>
          <a:xfrm>
            <a:off x="4492500" y="305595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3</a:t>
            </a:r>
          </a:p>
        </p:txBody>
      </p:sp>
      <p:sp>
        <p:nvSpPr>
          <p:cNvPr id="498" name="Shape 498"/>
          <p:cNvSpPr/>
          <p:nvPr/>
        </p:nvSpPr>
        <p:spPr>
          <a:xfrm>
            <a:off x="4810550" y="117202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5</a:t>
            </a:r>
          </a:p>
        </p:txBody>
      </p:sp>
      <p:sp>
        <p:nvSpPr>
          <p:cNvPr id="499" name="Shape 499"/>
          <p:cNvSpPr/>
          <p:nvPr/>
        </p:nvSpPr>
        <p:spPr>
          <a:xfrm>
            <a:off x="6845175" y="338550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2</a:t>
            </a:r>
          </a:p>
        </p:txBody>
      </p:sp>
      <p:cxnSp>
        <p:nvCxnSpPr>
          <p:cNvPr id="500" name="Shape 500"/>
          <p:cNvCxnSpPr>
            <a:stCxn id="493" idx="3"/>
            <a:endCxn id="494" idx="1"/>
          </p:cNvCxnSpPr>
          <p:nvPr/>
        </p:nvCxnSpPr>
        <p:spPr>
          <a:xfrm flipH="1">
            <a:off x="1220250" y="2079574"/>
            <a:ext cx="652200" cy="112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01" name="Shape 501"/>
          <p:cNvCxnSpPr>
            <a:stCxn id="498" idx="2"/>
            <a:endCxn id="493" idx="4"/>
          </p:cNvCxnSpPr>
          <p:nvPr/>
        </p:nvCxnSpPr>
        <p:spPr>
          <a:xfrm flipH="1">
            <a:off x="2235950" y="1553924"/>
            <a:ext cx="2574600" cy="1436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02" name="Shape 502"/>
          <p:cNvCxnSpPr>
            <a:stCxn id="497" idx="2"/>
          </p:cNvCxnSpPr>
          <p:nvPr/>
        </p:nvCxnSpPr>
        <p:spPr>
          <a:xfrm flipH="1">
            <a:off x="1583700" y="3437849"/>
            <a:ext cx="2908800" cy="100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03" name="Shape 503"/>
          <p:cNvCxnSpPr>
            <a:stCxn id="496" idx="2"/>
            <a:endCxn id="497" idx="4"/>
          </p:cNvCxnSpPr>
          <p:nvPr/>
        </p:nvCxnSpPr>
        <p:spPr>
          <a:xfrm flipH="1">
            <a:off x="5219500" y="2187649"/>
            <a:ext cx="13341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04" name="Shape 504"/>
          <p:cNvCxnSpPr>
            <a:stCxn id="496" idx="2"/>
            <a:endCxn id="498" idx="4"/>
          </p:cNvCxnSpPr>
          <p:nvPr/>
        </p:nvCxnSpPr>
        <p:spPr>
          <a:xfrm rot="10800000">
            <a:off x="5537500" y="1554049"/>
            <a:ext cx="1016100" cy="63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05" name="Shape 505"/>
          <p:cNvCxnSpPr>
            <a:stCxn id="497" idx="3"/>
          </p:cNvCxnSpPr>
          <p:nvPr/>
        </p:nvCxnSpPr>
        <p:spPr>
          <a:xfrm flipH="1">
            <a:off x="3514950" y="3819749"/>
            <a:ext cx="1341000" cy="42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06" name="Shape 506"/>
          <p:cNvCxnSpPr>
            <a:stCxn id="499" idx="1"/>
          </p:cNvCxnSpPr>
          <p:nvPr/>
        </p:nvCxnSpPr>
        <p:spPr>
          <a:xfrm rot="10800000">
            <a:off x="6955725" y="2569500"/>
            <a:ext cx="252900" cy="81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07" name="Shape 507"/>
          <p:cNvCxnSpPr>
            <a:stCxn id="499" idx="2"/>
            <a:endCxn id="495" idx="4"/>
          </p:cNvCxnSpPr>
          <p:nvPr/>
        </p:nvCxnSpPr>
        <p:spPr>
          <a:xfrm flipH="1">
            <a:off x="3598275" y="3767399"/>
            <a:ext cx="3246900" cy="76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508" name="Shape 508"/>
          <p:cNvSpPr/>
          <p:nvPr/>
        </p:nvSpPr>
        <p:spPr>
          <a:xfrm>
            <a:off x="2788050" y="2185862"/>
            <a:ext cx="726900" cy="763799"/>
          </a:xfrm>
          <a:prstGeom prst="can">
            <a:avLst>
              <a:gd name="adj" fmla="val 25000"/>
            </a:avLst>
          </a:prstGeom>
          <a:solidFill>
            <a:srgbClr val="00FF00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/>
              <a:t>8</a:t>
            </a:r>
          </a:p>
        </p:txBody>
      </p:sp>
      <p:sp>
        <p:nvSpPr>
          <p:cNvPr id="509" name="Shape 509"/>
          <p:cNvSpPr/>
          <p:nvPr/>
        </p:nvSpPr>
        <p:spPr>
          <a:xfrm>
            <a:off x="2934025" y="1425275"/>
            <a:ext cx="2220300" cy="654299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Hello World! I’m ready to Bitcoin!</a:t>
            </a:r>
          </a:p>
        </p:txBody>
      </p:sp>
      <p:cxnSp>
        <p:nvCxnSpPr>
          <p:cNvPr id="510" name="Shape 510"/>
          <p:cNvCxnSpPr>
            <a:stCxn id="508" idx="4"/>
            <a:endCxn id="509" idx="4"/>
          </p:cNvCxnSpPr>
          <p:nvPr/>
        </p:nvCxnSpPr>
        <p:spPr>
          <a:xfrm rot="10800000" flipH="1">
            <a:off x="3514950" y="1983662"/>
            <a:ext cx="1314300" cy="58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id="511" name="Shape 511"/>
          <p:cNvSpPr txBox="1"/>
          <p:nvPr/>
        </p:nvSpPr>
        <p:spPr>
          <a:xfrm>
            <a:off x="3818525" y="2217069"/>
            <a:ext cx="1179899" cy="31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getaddr()</a:t>
            </a:r>
          </a:p>
        </p:txBody>
      </p:sp>
      <p:cxnSp>
        <p:nvCxnSpPr>
          <p:cNvPr id="512" name="Shape 512"/>
          <p:cNvCxnSpPr>
            <a:stCxn id="498" idx="3"/>
          </p:cNvCxnSpPr>
          <p:nvPr/>
        </p:nvCxnSpPr>
        <p:spPr>
          <a:xfrm flipH="1">
            <a:off x="3459800" y="1935824"/>
            <a:ext cx="1714200" cy="85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id="513" name="Shape 513"/>
          <p:cNvSpPr txBox="1"/>
          <p:nvPr/>
        </p:nvSpPr>
        <p:spPr>
          <a:xfrm>
            <a:off x="4266000" y="2217069"/>
            <a:ext cx="1179899" cy="31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1, 7</a:t>
            </a:r>
          </a:p>
        </p:txBody>
      </p:sp>
      <p:cxnSp>
        <p:nvCxnSpPr>
          <p:cNvPr id="514" name="Shape 514"/>
          <p:cNvCxnSpPr>
            <a:stCxn id="508" idx="2"/>
          </p:cNvCxnSpPr>
          <p:nvPr/>
        </p:nvCxnSpPr>
        <p:spPr>
          <a:xfrm rot="10800000">
            <a:off x="2235750" y="2033462"/>
            <a:ext cx="552300" cy="53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515" name="Shape 515"/>
          <p:cNvCxnSpPr>
            <a:stCxn id="508" idx="4"/>
          </p:cNvCxnSpPr>
          <p:nvPr/>
        </p:nvCxnSpPr>
        <p:spPr>
          <a:xfrm rot="10800000" flipH="1">
            <a:off x="3514950" y="2217362"/>
            <a:ext cx="2870700" cy="350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id="516" name="Shape 516"/>
          <p:cNvSpPr txBox="1"/>
          <p:nvPr/>
        </p:nvSpPr>
        <p:spPr>
          <a:xfrm>
            <a:off x="4998425" y="2255632"/>
            <a:ext cx="1179899" cy="31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getaddr()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1754125" y="2232819"/>
            <a:ext cx="1179899" cy="31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getaddr()</a:t>
            </a:r>
          </a:p>
        </p:txBody>
      </p:sp>
      <p:cxnSp>
        <p:nvCxnSpPr>
          <p:cNvPr id="518" name="Shape 518"/>
          <p:cNvCxnSpPr>
            <a:stCxn id="498" idx="3"/>
            <a:endCxn id="508" idx="4"/>
          </p:cNvCxnSpPr>
          <p:nvPr/>
        </p:nvCxnSpPr>
        <p:spPr>
          <a:xfrm flipH="1">
            <a:off x="3515000" y="1935824"/>
            <a:ext cx="1659000" cy="63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19" name="Shape 519"/>
          <p:cNvCxnSpPr/>
          <p:nvPr/>
        </p:nvCxnSpPr>
        <p:spPr>
          <a:xfrm>
            <a:off x="2171500" y="2079475"/>
            <a:ext cx="644099" cy="4877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20" name="Shape 520"/>
          <p:cNvCxnSpPr>
            <a:stCxn id="508" idx="3"/>
          </p:cNvCxnSpPr>
          <p:nvPr/>
        </p:nvCxnSpPr>
        <p:spPr>
          <a:xfrm flipH="1">
            <a:off x="1573500" y="2949662"/>
            <a:ext cx="1578000" cy="3902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22380179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4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7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Transaction propagation (flooding)</a:t>
            </a:r>
          </a:p>
        </p:txBody>
      </p:sp>
      <p:sp>
        <p:nvSpPr>
          <p:cNvPr id="526" name="Shape 526"/>
          <p:cNvSpPr/>
          <p:nvPr/>
        </p:nvSpPr>
        <p:spPr>
          <a:xfrm>
            <a:off x="1509000" y="131577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1</a:t>
            </a:r>
          </a:p>
        </p:txBody>
      </p:sp>
      <p:sp>
        <p:nvSpPr>
          <p:cNvPr id="527" name="Shape 527"/>
          <p:cNvSpPr/>
          <p:nvPr/>
        </p:nvSpPr>
        <p:spPr>
          <a:xfrm>
            <a:off x="856875" y="320317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6</a:t>
            </a:r>
          </a:p>
        </p:txBody>
      </p:sp>
      <p:sp>
        <p:nvSpPr>
          <p:cNvPr id="528" name="Shape 528"/>
          <p:cNvSpPr/>
          <p:nvPr/>
        </p:nvSpPr>
        <p:spPr>
          <a:xfrm>
            <a:off x="2871375" y="414930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4</a:t>
            </a:r>
          </a:p>
        </p:txBody>
      </p:sp>
      <p:sp>
        <p:nvSpPr>
          <p:cNvPr id="529" name="Shape 529"/>
          <p:cNvSpPr/>
          <p:nvPr/>
        </p:nvSpPr>
        <p:spPr>
          <a:xfrm>
            <a:off x="6553600" y="180575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7</a:t>
            </a:r>
          </a:p>
        </p:txBody>
      </p:sp>
      <p:sp>
        <p:nvSpPr>
          <p:cNvPr id="530" name="Shape 530"/>
          <p:cNvSpPr/>
          <p:nvPr/>
        </p:nvSpPr>
        <p:spPr>
          <a:xfrm>
            <a:off x="4492500" y="305595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3</a:t>
            </a:r>
          </a:p>
        </p:txBody>
      </p:sp>
      <p:sp>
        <p:nvSpPr>
          <p:cNvPr id="531" name="Shape 531"/>
          <p:cNvSpPr/>
          <p:nvPr/>
        </p:nvSpPr>
        <p:spPr>
          <a:xfrm>
            <a:off x="4810550" y="117202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5</a:t>
            </a:r>
          </a:p>
        </p:txBody>
      </p:sp>
      <p:sp>
        <p:nvSpPr>
          <p:cNvPr id="532" name="Shape 532"/>
          <p:cNvSpPr/>
          <p:nvPr/>
        </p:nvSpPr>
        <p:spPr>
          <a:xfrm>
            <a:off x="6845175" y="338550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2</a:t>
            </a:r>
          </a:p>
        </p:txBody>
      </p:sp>
      <p:cxnSp>
        <p:nvCxnSpPr>
          <p:cNvPr id="533" name="Shape 533"/>
          <p:cNvCxnSpPr>
            <a:stCxn id="526" idx="3"/>
            <a:endCxn id="527" idx="1"/>
          </p:cNvCxnSpPr>
          <p:nvPr/>
        </p:nvCxnSpPr>
        <p:spPr>
          <a:xfrm flipH="1">
            <a:off x="1220250" y="2079574"/>
            <a:ext cx="652200" cy="112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34" name="Shape 534"/>
          <p:cNvCxnSpPr>
            <a:stCxn id="531" idx="2"/>
            <a:endCxn id="526" idx="4"/>
          </p:cNvCxnSpPr>
          <p:nvPr/>
        </p:nvCxnSpPr>
        <p:spPr>
          <a:xfrm flipH="1">
            <a:off x="2235950" y="1553924"/>
            <a:ext cx="2574600" cy="1436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35" name="Shape 535"/>
          <p:cNvCxnSpPr>
            <a:stCxn id="530" idx="2"/>
          </p:cNvCxnSpPr>
          <p:nvPr/>
        </p:nvCxnSpPr>
        <p:spPr>
          <a:xfrm flipH="1">
            <a:off x="1583700" y="3437849"/>
            <a:ext cx="2908800" cy="100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36" name="Shape 536"/>
          <p:cNvCxnSpPr>
            <a:stCxn id="529" idx="2"/>
            <a:endCxn id="530" idx="4"/>
          </p:cNvCxnSpPr>
          <p:nvPr/>
        </p:nvCxnSpPr>
        <p:spPr>
          <a:xfrm flipH="1">
            <a:off x="5219500" y="2187649"/>
            <a:ext cx="13341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37" name="Shape 537"/>
          <p:cNvCxnSpPr>
            <a:stCxn id="529" idx="2"/>
            <a:endCxn id="531" idx="4"/>
          </p:cNvCxnSpPr>
          <p:nvPr/>
        </p:nvCxnSpPr>
        <p:spPr>
          <a:xfrm rot="10800000">
            <a:off x="5537500" y="1554049"/>
            <a:ext cx="1016100" cy="63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38" name="Shape 538"/>
          <p:cNvCxnSpPr>
            <a:stCxn id="530" idx="3"/>
          </p:cNvCxnSpPr>
          <p:nvPr/>
        </p:nvCxnSpPr>
        <p:spPr>
          <a:xfrm flipH="1">
            <a:off x="3514950" y="3819749"/>
            <a:ext cx="1341000" cy="42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39" name="Shape 539"/>
          <p:cNvCxnSpPr>
            <a:stCxn id="532" idx="1"/>
          </p:cNvCxnSpPr>
          <p:nvPr/>
        </p:nvCxnSpPr>
        <p:spPr>
          <a:xfrm rot="10800000">
            <a:off x="6955725" y="2569500"/>
            <a:ext cx="252900" cy="81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40" name="Shape 540"/>
          <p:cNvCxnSpPr>
            <a:stCxn id="532" idx="2"/>
            <a:endCxn id="528" idx="4"/>
          </p:cNvCxnSpPr>
          <p:nvPr/>
        </p:nvCxnSpPr>
        <p:spPr>
          <a:xfrm flipH="1">
            <a:off x="3598275" y="3767399"/>
            <a:ext cx="3246900" cy="76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541" name="Shape 541"/>
          <p:cNvSpPr/>
          <p:nvPr/>
        </p:nvSpPr>
        <p:spPr>
          <a:xfrm>
            <a:off x="2788050" y="2185862"/>
            <a:ext cx="726900" cy="763799"/>
          </a:xfrm>
          <a:prstGeom prst="can">
            <a:avLst>
              <a:gd name="adj" fmla="val 25000"/>
            </a:avLst>
          </a:prstGeom>
          <a:solidFill>
            <a:srgbClr val="CCCCCC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8</a:t>
            </a:r>
          </a:p>
        </p:txBody>
      </p:sp>
      <p:cxnSp>
        <p:nvCxnSpPr>
          <p:cNvPr id="542" name="Shape 542"/>
          <p:cNvCxnSpPr/>
          <p:nvPr/>
        </p:nvCxnSpPr>
        <p:spPr>
          <a:xfrm>
            <a:off x="2171500" y="2079475"/>
            <a:ext cx="644099" cy="4877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43" name="Shape 543"/>
          <p:cNvCxnSpPr>
            <a:stCxn id="541" idx="3"/>
          </p:cNvCxnSpPr>
          <p:nvPr/>
        </p:nvCxnSpPr>
        <p:spPr>
          <a:xfrm flipH="1">
            <a:off x="1573500" y="2949662"/>
            <a:ext cx="1578000" cy="3902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44" name="Shape 544"/>
          <p:cNvCxnSpPr>
            <a:stCxn id="531" idx="3"/>
            <a:endCxn id="541" idx="4"/>
          </p:cNvCxnSpPr>
          <p:nvPr/>
        </p:nvCxnSpPr>
        <p:spPr>
          <a:xfrm flipH="1">
            <a:off x="3515000" y="1935824"/>
            <a:ext cx="1659000" cy="63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545" name="Shape 545"/>
          <p:cNvSpPr/>
          <p:nvPr/>
        </p:nvSpPr>
        <p:spPr>
          <a:xfrm>
            <a:off x="3151500" y="3154275"/>
            <a:ext cx="1255799" cy="8574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New tx!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A→B</a:t>
            </a:r>
          </a:p>
        </p:txBody>
      </p:sp>
      <p:sp>
        <p:nvSpPr>
          <p:cNvPr id="546" name="Shape 546"/>
          <p:cNvSpPr txBox="1"/>
          <p:nvPr/>
        </p:nvSpPr>
        <p:spPr>
          <a:xfrm>
            <a:off x="2961375" y="4715225"/>
            <a:ext cx="546900" cy="143699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47" name="Shape 547"/>
          <p:cNvSpPr txBox="1"/>
          <p:nvPr/>
        </p:nvSpPr>
        <p:spPr>
          <a:xfrm>
            <a:off x="4582500" y="3623700"/>
            <a:ext cx="546900" cy="143699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48" name="Shape 548"/>
          <p:cNvSpPr txBox="1"/>
          <p:nvPr/>
        </p:nvSpPr>
        <p:spPr>
          <a:xfrm>
            <a:off x="6935175" y="3958950"/>
            <a:ext cx="546900" cy="143699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978825" y="3767400"/>
            <a:ext cx="546900" cy="143699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50" name="Shape 550"/>
          <p:cNvSpPr txBox="1"/>
          <p:nvPr/>
        </p:nvSpPr>
        <p:spPr>
          <a:xfrm>
            <a:off x="5296775" y="4149300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7112825" y="2837850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52" name="Shape 552"/>
          <p:cNvSpPr txBox="1"/>
          <p:nvPr/>
        </p:nvSpPr>
        <p:spPr>
          <a:xfrm>
            <a:off x="4090800" y="4111350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53" name="Shape 553"/>
          <p:cNvSpPr txBox="1"/>
          <p:nvPr/>
        </p:nvSpPr>
        <p:spPr>
          <a:xfrm>
            <a:off x="2375350" y="3249237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54" name="Shape 554"/>
          <p:cNvSpPr txBox="1"/>
          <p:nvPr/>
        </p:nvSpPr>
        <p:spPr>
          <a:xfrm>
            <a:off x="5821800" y="2787525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55" name="Shape 555"/>
          <p:cNvSpPr txBox="1"/>
          <p:nvPr/>
        </p:nvSpPr>
        <p:spPr>
          <a:xfrm>
            <a:off x="6643600" y="2364600"/>
            <a:ext cx="546900" cy="143699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56" name="Shape 556"/>
          <p:cNvSpPr/>
          <p:nvPr/>
        </p:nvSpPr>
        <p:spPr>
          <a:xfrm>
            <a:off x="7150025" y="987950"/>
            <a:ext cx="1578000" cy="8574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Already heard that!</a:t>
            </a:r>
          </a:p>
        </p:txBody>
      </p:sp>
    </p:spTree>
    <p:extLst>
      <p:ext uri="{BB962C8B-B14F-4D97-AF65-F5344CB8AC3E}">
        <p14:creationId xmlns:p14="http://schemas.microsoft.com/office/powerpoint/2010/main" val="42761713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2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4312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Should I relay a proposed transaction?</a:t>
            </a:r>
          </a:p>
        </p:txBody>
      </p:sp>
      <p:sp>
        <p:nvSpPr>
          <p:cNvPr id="562" name="Shape 56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998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Transaction valid with current block chain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(default) script matches a whitelist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/>
              <a:t>Avoid unusual scripts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Haven’t seen before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/>
              <a:t>Avoid infinite loops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Doesn’t conflict with others I’ve relayed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/>
              <a:t>Avoid double-spends</a:t>
            </a:r>
          </a:p>
          <a:p>
            <a:pPr lvl="0" rtl="0">
              <a:spcBef>
                <a:spcPts val="0"/>
              </a:spcBef>
              <a:buClr>
                <a:srgbClr val="000000"/>
              </a:buClr>
              <a:buSzPct val="36666"/>
              <a:buFont typeface="Arial"/>
              <a:buNone/>
            </a:pPr>
            <a:endParaRPr/>
          </a:p>
        </p:txBody>
      </p:sp>
      <p:cxnSp>
        <p:nvCxnSpPr>
          <p:cNvPr id="563" name="Shape 563"/>
          <p:cNvCxnSpPr/>
          <p:nvPr/>
        </p:nvCxnSpPr>
        <p:spPr>
          <a:xfrm rot="10800000">
            <a:off x="4480900" y="2521200"/>
            <a:ext cx="680999" cy="3311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64" name="Shape 564"/>
          <p:cNvCxnSpPr/>
          <p:nvPr/>
        </p:nvCxnSpPr>
        <p:spPr>
          <a:xfrm flipH="1">
            <a:off x="4425725" y="3128425"/>
            <a:ext cx="874199" cy="13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65" name="Shape 565"/>
          <p:cNvCxnSpPr/>
          <p:nvPr/>
        </p:nvCxnSpPr>
        <p:spPr>
          <a:xfrm flipH="1">
            <a:off x="4490324" y="3487275"/>
            <a:ext cx="910800" cy="61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66" name="Shape 566"/>
          <p:cNvSpPr txBox="1"/>
          <p:nvPr/>
        </p:nvSpPr>
        <p:spPr>
          <a:xfrm>
            <a:off x="5401125" y="2714375"/>
            <a:ext cx="3321600" cy="680999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Sanity checks only...</a:t>
            </a:r>
          </a:p>
          <a:p>
            <a:pPr lvl="0">
              <a:spcBef>
                <a:spcPts val="0"/>
              </a:spcBef>
              <a:buNone/>
            </a:pPr>
            <a:r>
              <a:rPr lang="en" sz="1800"/>
              <a:t>Some nodes may ignore them!</a:t>
            </a:r>
          </a:p>
        </p:txBody>
      </p:sp>
    </p:spTree>
    <p:extLst>
      <p:ext uri="{BB962C8B-B14F-4D97-AF65-F5344CB8AC3E}">
        <p14:creationId xmlns:p14="http://schemas.microsoft.com/office/powerpoint/2010/main" val="323732824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Nodes may differ on transaction pool </a:t>
            </a:r>
          </a:p>
        </p:txBody>
      </p:sp>
      <p:sp>
        <p:nvSpPr>
          <p:cNvPr id="572" name="Shape 572"/>
          <p:cNvSpPr/>
          <p:nvPr/>
        </p:nvSpPr>
        <p:spPr>
          <a:xfrm>
            <a:off x="1509000" y="131577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1</a:t>
            </a:r>
          </a:p>
        </p:txBody>
      </p:sp>
      <p:sp>
        <p:nvSpPr>
          <p:cNvPr id="573" name="Shape 573"/>
          <p:cNvSpPr/>
          <p:nvPr/>
        </p:nvSpPr>
        <p:spPr>
          <a:xfrm>
            <a:off x="856875" y="320317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6</a:t>
            </a:r>
          </a:p>
        </p:txBody>
      </p:sp>
      <p:sp>
        <p:nvSpPr>
          <p:cNvPr id="574" name="Shape 574"/>
          <p:cNvSpPr/>
          <p:nvPr/>
        </p:nvSpPr>
        <p:spPr>
          <a:xfrm>
            <a:off x="2871375" y="414930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4</a:t>
            </a:r>
          </a:p>
        </p:txBody>
      </p:sp>
      <p:sp>
        <p:nvSpPr>
          <p:cNvPr id="575" name="Shape 575"/>
          <p:cNvSpPr/>
          <p:nvPr/>
        </p:nvSpPr>
        <p:spPr>
          <a:xfrm>
            <a:off x="6553600" y="180575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7</a:t>
            </a:r>
          </a:p>
        </p:txBody>
      </p:sp>
      <p:sp>
        <p:nvSpPr>
          <p:cNvPr id="576" name="Shape 576"/>
          <p:cNvSpPr/>
          <p:nvPr/>
        </p:nvSpPr>
        <p:spPr>
          <a:xfrm>
            <a:off x="4492500" y="305595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3</a:t>
            </a:r>
          </a:p>
        </p:txBody>
      </p:sp>
      <p:sp>
        <p:nvSpPr>
          <p:cNvPr id="577" name="Shape 577"/>
          <p:cNvSpPr/>
          <p:nvPr/>
        </p:nvSpPr>
        <p:spPr>
          <a:xfrm>
            <a:off x="4810550" y="1172025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5</a:t>
            </a:r>
          </a:p>
        </p:txBody>
      </p:sp>
      <p:sp>
        <p:nvSpPr>
          <p:cNvPr id="578" name="Shape 578"/>
          <p:cNvSpPr/>
          <p:nvPr/>
        </p:nvSpPr>
        <p:spPr>
          <a:xfrm>
            <a:off x="6845175" y="3385500"/>
            <a:ext cx="726900" cy="763799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2</a:t>
            </a:r>
          </a:p>
        </p:txBody>
      </p:sp>
      <p:cxnSp>
        <p:nvCxnSpPr>
          <p:cNvPr id="579" name="Shape 579"/>
          <p:cNvCxnSpPr>
            <a:stCxn id="572" idx="3"/>
            <a:endCxn id="573" idx="1"/>
          </p:cNvCxnSpPr>
          <p:nvPr/>
        </p:nvCxnSpPr>
        <p:spPr>
          <a:xfrm flipH="1">
            <a:off x="1220250" y="2079574"/>
            <a:ext cx="652200" cy="112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0" name="Shape 580"/>
          <p:cNvCxnSpPr>
            <a:stCxn id="577" idx="2"/>
            <a:endCxn id="572" idx="4"/>
          </p:cNvCxnSpPr>
          <p:nvPr/>
        </p:nvCxnSpPr>
        <p:spPr>
          <a:xfrm flipH="1">
            <a:off x="2235950" y="1553924"/>
            <a:ext cx="2574600" cy="1436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1" name="Shape 581"/>
          <p:cNvCxnSpPr>
            <a:stCxn id="576" idx="2"/>
          </p:cNvCxnSpPr>
          <p:nvPr/>
        </p:nvCxnSpPr>
        <p:spPr>
          <a:xfrm flipH="1">
            <a:off x="1583700" y="3437849"/>
            <a:ext cx="2908800" cy="100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2" name="Shape 582"/>
          <p:cNvCxnSpPr>
            <a:stCxn id="575" idx="2"/>
            <a:endCxn id="576" idx="4"/>
          </p:cNvCxnSpPr>
          <p:nvPr/>
        </p:nvCxnSpPr>
        <p:spPr>
          <a:xfrm flipH="1">
            <a:off x="5219500" y="2187649"/>
            <a:ext cx="13341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3" name="Shape 583"/>
          <p:cNvCxnSpPr>
            <a:stCxn id="575" idx="2"/>
            <a:endCxn id="577" idx="4"/>
          </p:cNvCxnSpPr>
          <p:nvPr/>
        </p:nvCxnSpPr>
        <p:spPr>
          <a:xfrm rot="10800000">
            <a:off x="5537500" y="1554049"/>
            <a:ext cx="1016100" cy="63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4" name="Shape 584"/>
          <p:cNvCxnSpPr>
            <a:stCxn id="576" idx="3"/>
          </p:cNvCxnSpPr>
          <p:nvPr/>
        </p:nvCxnSpPr>
        <p:spPr>
          <a:xfrm flipH="1">
            <a:off x="3514950" y="3819749"/>
            <a:ext cx="1341000" cy="42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5" name="Shape 585"/>
          <p:cNvCxnSpPr>
            <a:stCxn id="578" idx="1"/>
          </p:cNvCxnSpPr>
          <p:nvPr/>
        </p:nvCxnSpPr>
        <p:spPr>
          <a:xfrm rot="10800000">
            <a:off x="6955725" y="2569500"/>
            <a:ext cx="252900" cy="81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6" name="Shape 586"/>
          <p:cNvCxnSpPr>
            <a:stCxn id="578" idx="2"/>
            <a:endCxn id="574" idx="4"/>
          </p:cNvCxnSpPr>
          <p:nvPr/>
        </p:nvCxnSpPr>
        <p:spPr>
          <a:xfrm flipH="1">
            <a:off x="3598275" y="3767399"/>
            <a:ext cx="3246900" cy="76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587" name="Shape 587"/>
          <p:cNvSpPr/>
          <p:nvPr/>
        </p:nvSpPr>
        <p:spPr>
          <a:xfrm>
            <a:off x="2788050" y="2185862"/>
            <a:ext cx="726900" cy="763799"/>
          </a:xfrm>
          <a:prstGeom prst="can">
            <a:avLst>
              <a:gd name="adj" fmla="val 25000"/>
            </a:avLst>
          </a:prstGeom>
          <a:solidFill>
            <a:srgbClr val="CCCCCC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8</a:t>
            </a:r>
          </a:p>
        </p:txBody>
      </p:sp>
      <p:cxnSp>
        <p:nvCxnSpPr>
          <p:cNvPr id="588" name="Shape 588"/>
          <p:cNvCxnSpPr/>
          <p:nvPr/>
        </p:nvCxnSpPr>
        <p:spPr>
          <a:xfrm>
            <a:off x="2171500" y="2079475"/>
            <a:ext cx="644099" cy="4877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9" name="Shape 589"/>
          <p:cNvCxnSpPr>
            <a:stCxn id="587" idx="3"/>
          </p:cNvCxnSpPr>
          <p:nvPr/>
        </p:nvCxnSpPr>
        <p:spPr>
          <a:xfrm flipH="1">
            <a:off x="1573500" y="2949662"/>
            <a:ext cx="1578000" cy="39029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90" name="Shape 590"/>
          <p:cNvCxnSpPr>
            <a:stCxn id="577" idx="3"/>
            <a:endCxn id="587" idx="4"/>
          </p:cNvCxnSpPr>
          <p:nvPr/>
        </p:nvCxnSpPr>
        <p:spPr>
          <a:xfrm flipH="1">
            <a:off x="3515000" y="1935824"/>
            <a:ext cx="1659000" cy="63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591" name="Shape 591"/>
          <p:cNvSpPr txBox="1"/>
          <p:nvPr/>
        </p:nvSpPr>
        <p:spPr>
          <a:xfrm>
            <a:off x="2961375" y="4715225"/>
            <a:ext cx="546900" cy="143699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92" name="Shape 592"/>
          <p:cNvSpPr txBox="1"/>
          <p:nvPr/>
        </p:nvSpPr>
        <p:spPr>
          <a:xfrm>
            <a:off x="4582500" y="3623700"/>
            <a:ext cx="546900" cy="143699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93" name="Shape 593"/>
          <p:cNvSpPr txBox="1"/>
          <p:nvPr/>
        </p:nvSpPr>
        <p:spPr>
          <a:xfrm>
            <a:off x="6935175" y="3958950"/>
            <a:ext cx="546900" cy="143699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94" name="Shape 594"/>
          <p:cNvSpPr txBox="1"/>
          <p:nvPr/>
        </p:nvSpPr>
        <p:spPr>
          <a:xfrm>
            <a:off x="978825" y="3767400"/>
            <a:ext cx="546900" cy="143699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95" name="Shape 595"/>
          <p:cNvSpPr txBox="1"/>
          <p:nvPr/>
        </p:nvSpPr>
        <p:spPr>
          <a:xfrm>
            <a:off x="6643600" y="2364600"/>
            <a:ext cx="546900" cy="143699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1769950" y="2893512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597" name="Shape 597"/>
          <p:cNvSpPr/>
          <p:nvPr/>
        </p:nvSpPr>
        <p:spPr>
          <a:xfrm>
            <a:off x="2032925" y="508725"/>
            <a:ext cx="1255799" cy="8574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New tx!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A→C</a:t>
            </a:r>
          </a:p>
        </p:txBody>
      </p:sp>
      <p:sp>
        <p:nvSpPr>
          <p:cNvPr id="598" name="Shape 598"/>
          <p:cNvSpPr txBox="1"/>
          <p:nvPr/>
        </p:nvSpPr>
        <p:spPr>
          <a:xfrm>
            <a:off x="3243025" y="1390550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A→C</a:t>
            </a:r>
          </a:p>
        </p:txBody>
      </p:sp>
      <p:sp>
        <p:nvSpPr>
          <p:cNvPr id="599" name="Shape 599"/>
          <p:cNvSpPr txBox="1"/>
          <p:nvPr/>
        </p:nvSpPr>
        <p:spPr>
          <a:xfrm>
            <a:off x="2317275" y="2048850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A→C</a:t>
            </a:r>
          </a:p>
        </p:txBody>
      </p:sp>
      <p:sp>
        <p:nvSpPr>
          <p:cNvPr id="600" name="Shape 600"/>
          <p:cNvSpPr txBox="1"/>
          <p:nvPr/>
        </p:nvSpPr>
        <p:spPr>
          <a:xfrm>
            <a:off x="5828525" y="1588612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601" name="Shape 601"/>
          <p:cNvSpPr txBox="1"/>
          <p:nvPr/>
        </p:nvSpPr>
        <p:spPr>
          <a:xfrm>
            <a:off x="1588450" y="1858100"/>
            <a:ext cx="546900" cy="143699"/>
          </a:xfrm>
          <a:prstGeom prst="rect">
            <a:avLst/>
          </a:prstGeom>
          <a:solidFill>
            <a:srgbClr val="DD7E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A→C</a:t>
            </a:r>
          </a:p>
        </p:txBody>
      </p:sp>
      <p:sp>
        <p:nvSpPr>
          <p:cNvPr id="602" name="Shape 602"/>
          <p:cNvSpPr txBox="1"/>
          <p:nvPr/>
        </p:nvSpPr>
        <p:spPr>
          <a:xfrm>
            <a:off x="4900550" y="1714400"/>
            <a:ext cx="546900" cy="143699"/>
          </a:xfrm>
          <a:prstGeom prst="rect">
            <a:avLst/>
          </a:prstGeom>
          <a:solidFill>
            <a:srgbClr val="DD7E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A→C</a:t>
            </a:r>
          </a:p>
        </p:txBody>
      </p:sp>
      <p:sp>
        <p:nvSpPr>
          <p:cNvPr id="603" name="Shape 603"/>
          <p:cNvSpPr txBox="1"/>
          <p:nvPr/>
        </p:nvSpPr>
        <p:spPr>
          <a:xfrm>
            <a:off x="2878050" y="2708087"/>
            <a:ext cx="546900" cy="143699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A→B</a:t>
            </a:r>
          </a:p>
        </p:txBody>
      </p:sp>
      <p:sp>
        <p:nvSpPr>
          <p:cNvPr id="604" name="Shape 604"/>
          <p:cNvSpPr txBox="1"/>
          <p:nvPr/>
        </p:nvSpPr>
        <p:spPr>
          <a:xfrm>
            <a:off x="898275" y="2377500"/>
            <a:ext cx="644099" cy="21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A→C</a:t>
            </a:r>
          </a:p>
        </p:txBody>
      </p:sp>
    </p:spTree>
    <p:extLst>
      <p:ext uri="{BB962C8B-B14F-4D97-AF65-F5344CB8AC3E}">
        <p14:creationId xmlns:p14="http://schemas.microsoft.com/office/powerpoint/2010/main" val="70670205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8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4312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Race conditions</a:t>
            </a:r>
          </a:p>
        </p:txBody>
      </p:sp>
      <p:sp>
        <p:nvSpPr>
          <p:cNvPr id="610" name="Shape 6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492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Transactions or blocks may </a:t>
            </a:r>
            <a:r>
              <a:rPr lang="en" i="1"/>
              <a:t>conflict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Default behavior: accept what you hear first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Network position matters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Miners may implement other logic!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226307"/>
      </p:ext>
    </p:extLst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616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4312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Block propagation nearly identical</a:t>
            </a:r>
          </a:p>
        </p:txBody>
      </p:sp>
      <p:sp>
        <p:nvSpPr>
          <p:cNvPr id="617" name="Shape 6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492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Relay a new block when you hear it if: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Block meets the hash target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Block has all valid transactions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/>
              <a:t>Run </a:t>
            </a:r>
            <a:r>
              <a:rPr lang="en" i="1"/>
              <a:t>all</a:t>
            </a:r>
            <a:r>
              <a:rPr lang="en"/>
              <a:t> scripts, even if you wouldn’t relay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Block builds on current longest chain</a:t>
            </a:r>
          </a:p>
          <a:p>
            <a:pPr marL="914400" lvl="1" indent="-228600" rtl="0">
              <a:spcBef>
                <a:spcPts val="0"/>
              </a:spcBef>
            </a:pPr>
            <a:r>
              <a:rPr lang="en"/>
              <a:t>Avoid forks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18" name="Shape 618"/>
          <p:cNvSpPr txBox="1"/>
          <p:nvPr/>
        </p:nvSpPr>
        <p:spPr>
          <a:xfrm>
            <a:off x="4398250" y="3818525"/>
            <a:ext cx="3321600" cy="680999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Sanity check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Also may be ignored...</a:t>
            </a:r>
          </a:p>
        </p:txBody>
      </p:sp>
      <p:cxnSp>
        <p:nvCxnSpPr>
          <p:cNvPr id="619" name="Shape 619"/>
          <p:cNvCxnSpPr/>
          <p:nvPr/>
        </p:nvCxnSpPr>
        <p:spPr>
          <a:xfrm rot="10800000">
            <a:off x="3146774" y="3882875"/>
            <a:ext cx="1095000" cy="34049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862433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Shape 6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064" y="-12"/>
            <a:ext cx="6133409" cy="48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Shape 625"/>
          <p:cNvSpPr txBox="1"/>
          <p:nvPr/>
        </p:nvSpPr>
        <p:spPr>
          <a:xfrm>
            <a:off x="3229650" y="4803000"/>
            <a:ext cx="8640000" cy="340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000"/>
              <a:t>Source: Yonatan Sompolinsky and Aviv Zohar: “Accelerating Bitcoin’s Transaction Processing” 2014</a:t>
            </a:r>
          </a:p>
        </p:txBody>
      </p:sp>
    </p:spTree>
    <p:extLst>
      <p:ext uri="{BB962C8B-B14F-4D97-AF65-F5344CB8AC3E}">
        <p14:creationId xmlns:p14="http://schemas.microsoft.com/office/powerpoint/2010/main" val="2372125507"/>
      </p:ext>
    </p:extLst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6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How big is the network?</a:t>
            </a:r>
          </a:p>
        </p:txBody>
      </p:sp>
      <p:sp>
        <p:nvSpPr>
          <p:cNvPr id="631" name="Shape 6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3142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914400" lvl="0" indent="-228600" rtl="0">
              <a:spcBef>
                <a:spcPts val="0"/>
              </a:spcBef>
            </a:pPr>
            <a:r>
              <a:rPr lang="en"/>
              <a:t>Impossible to measure exactly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Estimates-up to 1M IP addresses/month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Only about 5-10k “full nodes”</a:t>
            </a:r>
          </a:p>
          <a:p>
            <a:pPr marL="1828800" lvl="1" indent="-228600" rtl="0">
              <a:spcBef>
                <a:spcPts val="0"/>
              </a:spcBef>
            </a:pPr>
            <a:r>
              <a:rPr lang="en"/>
              <a:t>Permanently connected</a:t>
            </a:r>
          </a:p>
          <a:p>
            <a:pPr marL="1828800" lvl="1" indent="-228600" rtl="0">
              <a:spcBef>
                <a:spcPts val="0"/>
              </a:spcBef>
            </a:pPr>
            <a:r>
              <a:rPr lang="en"/>
              <a:t>Fully-validate</a:t>
            </a:r>
          </a:p>
          <a:p>
            <a:pPr marL="914400" lvl="0" indent="-228600" rtl="0">
              <a:spcBef>
                <a:spcPts val="0"/>
              </a:spcBef>
            </a:pPr>
            <a:r>
              <a:rPr lang="en"/>
              <a:t>This number may be dropping!</a:t>
            </a:r>
          </a:p>
        </p:txBody>
      </p:sp>
    </p:spTree>
    <p:extLst>
      <p:ext uri="{BB962C8B-B14F-4D97-AF65-F5344CB8AC3E}">
        <p14:creationId xmlns:p14="http://schemas.microsoft.com/office/powerpoint/2010/main" val="3572517703"/>
      </p:ext>
    </p:extLst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6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Fully-validating nodes</a:t>
            </a:r>
          </a:p>
        </p:txBody>
      </p:sp>
      <p:sp>
        <p:nvSpPr>
          <p:cNvPr id="637" name="Shape 6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48399" cy="209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Permanently connected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Store entire block chain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Hear and forward every node/transaction</a:t>
            </a:r>
          </a:p>
        </p:txBody>
      </p:sp>
    </p:spTree>
    <p:extLst>
      <p:ext uri="{BB962C8B-B14F-4D97-AF65-F5344CB8AC3E}">
        <p14:creationId xmlns:p14="http://schemas.microsoft.com/office/powerpoint/2010/main" val="1247265562"/>
      </p:ext>
    </p:extLst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1462</Words>
  <Application>Microsoft Macintosh PowerPoint</Application>
  <PresentationFormat>On-screen Show (16:9)</PresentationFormat>
  <Paragraphs>360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Consolas</vt:lpstr>
      <vt:lpstr>Courier New</vt:lpstr>
      <vt:lpstr>Gautami</vt:lpstr>
      <vt:lpstr>Trebuchet MS</vt:lpstr>
      <vt:lpstr>simple-light</vt:lpstr>
      <vt:lpstr>1_simple-light</vt:lpstr>
      <vt:lpstr>Mechanics of Bitcoin Part I</vt:lpstr>
      <vt:lpstr>Recap: Bitcoin consensus</vt:lpstr>
      <vt:lpstr>PowerPoint Presentation</vt:lpstr>
      <vt:lpstr>An account-based ledger (not Bitcoin)</vt:lpstr>
      <vt:lpstr>A transaction-based ledger (Bitcoin)</vt:lpstr>
      <vt:lpstr>Merging value</vt:lpstr>
      <vt:lpstr>Joint payments</vt:lpstr>
      <vt:lpstr>The real deal: a Bitcoin transaction</vt:lpstr>
      <vt:lpstr>The real deal: transaction metadata</vt:lpstr>
      <vt:lpstr>The real deal: transaction inputs</vt:lpstr>
      <vt:lpstr>The real deal: transaction outputs</vt:lpstr>
      <vt:lpstr>PowerPoint Presentation</vt:lpstr>
      <vt:lpstr>Output “addresses” are really scripts</vt:lpstr>
      <vt:lpstr>Input “addresses” are also scripts</vt:lpstr>
      <vt:lpstr>Bitcoin scripting language (“Script”)</vt:lpstr>
      <vt:lpstr>Common Script Operations</vt:lpstr>
      <vt:lpstr>Bitcoin script execution example</vt:lpstr>
      <vt:lpstr>Bitcoin script instructions</vt:lpstr>
      <vt:lpstr>OP_CHECKMULTISIG</vt:lpstr>
      <vt:lpstr>PowerPoint Presentation</vt:lpstr>
      <vt:lpstr>Bitcoin blocks</vt:lpstr>
      <vt:lpstr>Bitcoin block structure</vt:lpstr>
      <vt:lpstr>The real deal: a Bitcoin block</vt:lpstr>
      <vt:lpstr>The real deal: a Bitcoin block header</vt:lpstr>
      <vt:lpstr>The real deal: coinbase transaction</vt:lpstr>
      <vt:lpstr>See for yourself!</vt:lpstr>
      <vt:lpstr>PowerPoint Presentation</vt:lpstr>
      <vt:lpstr>Bitcoin P2P network</vt:lpstr>
      <vt:lpstr>Joining the Bitcoin P2P network</vt:lpstr>
      <vt:lpstr>Transaction propagation (flooding)</vt:lpstr>
      <vt:lpstr>Should I relay a proposed transaction?</vt:lpstr>
      <vt:lpstr>Nodes may differ on transaction pool </vt:lpstr>
      <vt:lpstr>Race conditions</vt:lpstr>
      <vt:lpstr>Block propagation nearly identical</vt:lpstr>
      <vt:lpstr>PowerPoint Presentation</vt:lpstr>
      <vt:lpstr>How big is the network?</vt:lpstr>
      <vt:lpstr>Fully-validating nodes</vt:lpstr>
    </vt:vector>
  </TitlesOfParts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cp:lastModifiedBy>Tyler Moore</cp:lastModifiedBy>
  <cp:revision>9</cp:revision>
  <cp:lastPrinted>2016-04-06T13:49:28Z</cp:lastPrinted>
  <dcterms:modified xsi:type="dcterms:W3CDTF">2018-04-03T18:05:52Z</dcterms:modified>
</cp:coreProperties>
</file>